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Bold" charset="1" panose="00000800000000000000"/>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ensure accurate prediction of LC, HALC and CS, which directly impact how insurers set fair, profitable premiums and avoid adverse selection​</a:t>
            </a:r>
          </a:p>
          <a:p>
            <a:r>
              <a:rPr lang="en-US"/>
              <a:t/>
            </a:r>
          </a:p>
          <a:p>
            <a:r>
              <a:rPr lang="en-US"/>
              <a:t>Risk Type One-hot Encoding – Motorbikes vs. passenger cars reflect drastically different loss profiles.</a:t>
            </a:r>
          </a:p>
          <a:p>
            <a:r>
              <a:rPr lang="en-US"/>
              <a:t/>
            </a:r>
          </a:p>
          <a:p>
            <a:r>
              <a:rPr lang="en-US"/>
              <a:t/>
            </a:r>
          </a:p>
          <a:p>
            <a:r>
              <a:rPr lang="en-US"/>
              <a:t>Channel One-hot Encoding – Agent vs. broker may influence policy quality and fraud risk.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align our model with real-world insurance practices, we applied caps of $20,000 for LC and $30,000 for HALC. In personal auto insurance, claims exceeding these amounts are rare and often managed via reinsurance or special coverage limits. This cap helps stabilize model training, limit distortion from extreme outliers, and reflect how insurers manage catastrophic exposure in practice.”</a:t>
            </a:r>
          </a:p>
          <a:p>
            <a:r>
              <a:rPr lang="en-US"/>
              <a:t/>
            </a:r>
          </a:p>
          <a:p>
            <a:r>
              <a:rPr lang="en-US"/>
              <a:t/>
            </a:r>
          </a:p>
          <a:p>
            <a:r>
              <a:rPr lang="en-US"/>
              <a:t/>
            </a:r>
          </a:p>
          <a:p>
            <a:r>
              <a:rPr lang="en-US"/>
              <a:t/>
            </a:r>
          </a:p>
          <a:p>
            <a:r>
              <a:rPr lang="en-US"/>
              <a:t>To mitigate the influence of rare extreme claim values and maintain model stability to to avoid skewed model learning, we capped LC at $50,000 and HALC at $80,000</a:t>
            </a:r>
          </a:p>
          <a:p>
            <a:r>
              <a:rPr lang="en-US"/>
              <a:t/>
            </a:r>
          </a:p>
          <a:p>
            <a:r>
              <a:rPr lang="en-US"/>
              <a:t>Benefit:</a:t>
            </a:r>
          </a:p>
          <a:p>
            <a:r>
              <a:rPr lang="en-US"/>
              <a:t>1.Transparent to business partners: Business teams or auditors often prefer hard rules over statistical percentiles.</a:t>
            </a:r>
          </a:p>
          <a:p>
            <a:r>
              <a:rPr lang="en-US"/>
              <a:t/>
            </a:r>
          </a:p>
          <a:p>
            <a:r>
              <a:rPr lang="en-US"/>
              <a:t>2.Customizable: You can align the cap with reinsurance thresholds, policy limits, or historical claim ceilings.</a:t>
            </a:r>
          </a:p>
          <a:p>
            <a:r>
              <a:rPr lang="en-US"/>
              <a:t/>
            </a:r>
          </a:p>
          <a:p>
            <a:r>
              <a:rPr lang="en-US"/>
              <a:t>This method is called hard thresholding, and it’s especially useful when:</a:t>
            </a:r>
          </a:p>
          <a:p>
            <a:r>
              <a:rPr lang="en-US"/>
              <a:t/>
            </a:r>
          </a:p>
          <a:p>
            <a:r>
              <a:rPr lang="en-US"/>
              <a:t>You have domain knowledge (e.g., claims over 50K are rare and unusually severe).</a:t>
            </a:r>
          </a:p>
          <a:p>
            <a:r>
              <a:rPr lang="en-US"/>
              <a:t/>
            </a:r>
          </a:p>
          <a:p>
            <a:r>
              <a:rPr lang="en-US"/>
              <a:t>You want a clear, interpretable rule for stakeholders.</a:t>
            </a:r>
          </a:p>
          <a:p>
            <a:r>
              <a:rPr lang="en-US"/>
              <a:t/>
            </a:r>
          </a:p>
          <a:p>
            <a:r>
              <a:rPr lang="en-US"/>
              <a:t>You’ve already seen that only a few rows exceed 50K (like your 118,142 case).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noticed strong right skewness in several features, but instead of removing them, we chose to keep them because this pattern mirrors how insurance risk actually works — many customers have low exposure, but a few have very high claims or policy durations. That skew isn’t a modeling error; it’s a valuable risk signal.”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didn’t just throw XGBoost at it — we started with the basics: good old feature selection. Because if your inputs are messy, no model's gonna save you.</a:t>
            </a:r>
          </a:p>
          <a:p>
            <a:r>
              <a:rPr lang="en-US"/>
              <a:t>After basically processing, I used Lasso to refine my features set. It helped me drop noisy or redundant features, and retain only the ones that truly mattered. Lasso is more appropriate for Tweedie to reduces multicollinearity. Shap would be strongly preferred when using Random Forest or XGBoost. In the end, I narrowed it down to 12 features, including behavioral patterns, vehicle risks, and pricing info.</a:t>
            </a:r>
          </a:p>
          <a:p>
            <a:r>
              <a:rPr lang="en-US"/>
              <a:t>Once I had my features locked in, I tuned hyperparameters using k-fold and moved on to model comparison. I tried SVR, but it was painfully slow— definitely not scalable. Random Forest Regression and ElasticNet also underperformed. The RMSEs are pretty high. </a:t>
            </a:r>
          </a:p>
          <a:p>
            <a:r>
              <a:rPr lang="en-US"/>
              <a:t>Alright — so that’s how I picked my features and ruled out a few not-so-great models. Now, I am going to tell you what actually worked the best.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Strategy:</a:t>
            </a:r>
          </a:p>
          <a:p>
            <a:r>
              <a:rPr lang="en-US"/>
              <a:t/>
            </a:r>
          </a:p>
          <a:p>
            <a:r>
              <a:rPr lang="en-US"/>
              <a:t>Our dataset is heavily dominated by Passenger Cars (X.19 = 3), which account for approximately 79% of all policy records. In contrast, Vans make up about 12%, Motorbikes around 8%, and Agricultural Vehicles only 0.7% of the total.</a:t>
            </a:r>
          </a:p>
          <a:p>
            <a:r>
              <a:rPr lang="en-US"/>
              <a:t/>
            </a:r>
          </a:p>
          <a:p>
            <a:r>
              <a:rPr lang="en-US"/>
              <a:t>Given this imbalance, building separate models for each risk type may not be the most efficient approach. While passenger cars have enough data to justify a dedicated model, the smaller groups — especially agricultural vehicles — may not have sufficient records to train accurate, stable models on their own.</a:t>
            </a:r>
          </a:p>
          <a:p>
            <a:r>
              <a:rPr lang="en-US"/>
              <a:t/>
            </a:r>
          </a:p>
          <a:p>
            <a:r>
              <a:rPr lang="en-US"/>
              <a:t/>
            </a:r>
          </a:p>
          <a:p>
            <a:r>
              <a:rPr lang="en-US"/>
              <a:t>✅ 1. Build a separate model for Passenger Cars (X.19 = 3)</a:t>
            </a:r>
          </a:p>
          <a:p>
            <a:r>
              <a:rPr lang="en-US"/>
              <a:t>You have plenty of data — this is your main group, and accuracy will matter most here.</a:t>
            </a:r>
          </a:p>
          <a:p>
            <a:r>
              <a:rPr lang="en-US"/>
              <a:t/>
            </a:r>
          </a:p>
          <a:p>
            <a:r>
              <a:rPr lang="en-US"/>
              <a:t>You can tune it well with Tweedie or Neural Network, etc.</a:t>
            </a:r>
          </a:p>
          <a:p>
            <a:r>
              <a:rPr lang="en-US"/>
              <a:t/>
            </a:r>
          </a:p>
          <a:p>
            <a:r>
              <a:rPr lang="en-US"/>
              <a:t>✅ 2. Combine Risk Types 1, 2, and 4 into one “Other” model</a:t>
            </a:r>
          </a:p>
          <a:p>
            <a:r>
              <a:rPr lang="en-US"/>
              <a:t>Combined: 3,039 + 4,586 + 251 = 7,876 (about 21%)</a:t>
            </a:r>
          </a:p>
          <a:p>
            <a:r>
              <a:rPr lang="en-US"/>
              <a:t/>
            </a:r>
          </a:p>
          <a:p>
            <a:r>
              <a:rPr lang="en-US"/>
              <a:t>Risk type 4 (Agri) alone has only 251 rows → not enough to train a good model alone.</a:t>
            </a:r>
          </a:p>
          <a:p>
            <a:r>
              <a:rPr lang="en-US"/>
              <a:t/>
            </a:r>
          </a:p>
          <a:p>
            <a:r>
              <a:rPr lang="en-US"/>
              <a:t>But grouping them together gives you a decent dataset for a general “non-passenger car” model.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2" Target="../media/image1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media/image28.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7.jpe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097502"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42011" y="1600617"/>
            <a:ext cx="8015383" cy="4882351"/>
          </a:xfrm>
          <a:prstGeom prst="rect">
            <a:avLst/>
          </a:prstGeom>
        </p:spPr>
        <p:txBody>
          <a:bodyPr anchor="t" rtlCol="false" tIns="0" lIns="0" bIns="0" rIns="0">
            <a:spAutoFit/>
          </a:bodyPr>
          <a:lstStyle/>
          <a:p>
            <a:pPr algn="l">
              <a:lnSpc>
                <a:spcPts val="12819"/>
              </a:lnSpc>
              <a:spcBef>
                <a:spcPct val="0"/>
              </a:spcBef>
            </a:pPr>
            <a:r>
              <a:rPr lang="en-US" b="true" sz="9156">
                <a:solidFill>
                  <a:srgbClr val="00569E"/>
                </a:solidFill>
                <a:latin typeface="Poppins Bold"/>
                <a:ea typeface="Poppins Bold"/>
                <a:cs typeface="Poppins Bold"/>
                <a:sym typeface="Poppins Bold"/>
              </a:rPr>
              <a:t>Insurance Loss Analytics</a:t>
            </a:r>
          </a:p>
        </p:txBody>
      </p:sp>
      <p:grpSp>
        <p:nvGrpSpPr>
          <p:cNvPr name="Group 6" id="6"/>
          <p:cNvGrpSpPr/>
          <p:nvPr/>
        </p:nvGrpSpPr>
        <p:grpSpPr>
          <a:xfrm rot="0">
            <a:off x="16420234" y="-1717598"/>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929195" y="8389571"/>
            <a:ext cx="3735531" cy="373553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757394" y="7522582"/>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sp>
        <p:nvSpPr>
          <p:cNvPr name="TextBox 13" id="13"/>
          <p:cNvSpPr txBox="true"/>
          <p:nvPr/>
        </p:nvSpPr>
        <p:spPr>
          <a:xfrm rot="0">
            <a:off x="747857" y="6821581"/>
            <a:ext cx="8828911" cy="1473106"/>
          </a:xfrm>
          <a:prstGeom prst="rect">
            <a:avLst/>
          </a:prstGeom>
        </p:spPr>
        <p:txBody>
          <a:bodyPr anchor="t" rtlCol="false" tIns="0" lIns="0" bIns="0" rIns="0">
            <a:spAutoFit/>
          </a:bodyPr>
          <a:lstStyle/>
          <a:p>
            <a:pPr algn="l">
              <a:lnSpc>
                <a:spcPts val="3855"/>
              </a:lnSpc>
            </a:pPr>
            <a:r>
              <a:rPr lang="en-US" sz="2753" spc="-55">
                <a:solidFill>
                  <a:srgbClr val="051D40"/>
                </a:solidFill>
                <a:latin typeface="Poppins"/>
                <a:ea typeface="Poppins"/>
                <a:cs typeface="Poppins"/>
                <a:sym typeface="Poppins"/>
              </a:rPr>
              <a:t>By: Group 25</a:t>
            </a:r>
          </a:p>
          <a:p>
            <a:pPr algn="l">
              <a:lnSpc>
                <a:spcPts val="3855"/>
              </a:lnSpc>
            </a:pPr>
            <a:r>
              <a:rPr lang="en-US" sz="2753" spc="-55">
                <a:solidFill>
                  <a:srgbClr val="051D40"/>
                </a:solidFill>
                <a:latin typeface="Poppins"/>
                <a:ea typeface="Poppins"/>
                <a:cs typeface="Poppins"/>
                <a:sym typeface="Poppins"/>
              </a:rPr>
              <a:t>Cathy Fang, Gina Liao, </a:t>
            </a:r>
          </a:p>
          <a:p>
            <a:pPr algn="l">
              <a:lnSpc>
                <a:spcPts val="3855"/>
              </a:lnSpc>
              <a:spcBef>
                <a:spcPct val="0"/>
              </a:spcBef>
            </a:pPr>
            <a:r>
              <a:rPr lang="en-US" sz="2753" spc="-55">
                <a:solidFill>
                  <a:srgbClr val="051D40"/>
                </a:solidFill>
                <a:latin typeface="Poppins"/>
                <a:ea typeface="Poppins"/>
                <a:cs typeface="Poppins"/>
                <a:sym typeface="Poppins"/>
              </a:rPr>
              <a:t>Eve Miao, </a:t>
            </a:r>
            <a:r>
              <a:rPr lang="en-US" sz="2753" spc="-55">
                <a:solidFill>
                  <a:srgbClr val="051D40"/>
                </a:solidFill>
                <a:latin typeface="Poppins"/>
                <a:ea typeface="Poppins"/>
                <a:cs typeface="Poppins"/>
                <a:sym typeface="Poppins"/>
              </a:rPr>
              <a:t>Yini Li, Yuxuan Li</a:t>
            </a:r>
          </a:p>
        </p:txBody>
      </p:sp>
      <p:grpSp>
        <p:nvGrpSpPr>
          <p:cNvPr name="Group 14" id="14"/>
          <p:cNvGrpSpPr>
            <a:grpSpLocks noChangeAspect="true"/>
          </p:cNvGrpSpPr>
          <p:nvPr/>
        </p:nvGrpSpPr>
        <p:grpSpPr>
          <a:xfrm rot="0">
            <a:off x="8573918" y="3143201"/>
            <a:ext cx="9146584" cy="5246370"/>
            <a:chOff x="0" y="0"/>
            <a:chExt cx="7981950" cy="4578350"/>
          </a:xfrm>
        </p:grpSpPr>
        <p:sp>
          <p:nvSpPr>
            <p:cNvPr name="Freeform 15" id="15"/>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name="Freeform 16" id="16"/>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17" id="17"/>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18" id="18"/>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19" id="19"/>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8489" t="0" r="-8489" b="0"/>
              </a:stretch>
            </a:blipFill>
          </p:spPr>
        </p:sp>
      </p:grpSp>
      <p:sp>
        <p:nvSpPr>
          <p:cNvPr name="Freeform 20" id="20"/>
          <p:cNvSpPr/>
          <p:nvPr/>
        </p:nvSpPr>
        <p:spPr>
          <a:xfrm flipH="false" flipV="false" rot="0">
            <a:off x="459528" y="341522"/>
            <a:ext cx="1337527" cy="1337527"/>
          </a:xfrm>
          <a:custGeom>
            <a:avLst/>
            <a:gdLst/>
            <a:ahLst/>
            <a:cxnLst/>
            <a:rect r="r" b="b" t="t" l="l"/>
            <a:pathLst>
              <a:path h="1337527" w="1337527">
                <a:moveTo>
                  <a:pt x="0" y="0"/>
                </a:moveTo>
                <a:lnTo>
                  <a:pt x="1337527" y="0"/>
                </a:lnTo>
                <a:lnTo>
                  <a:pt x="1337527" y="1337527"/>
                </a:lnTo>
                <a:lnTo>
                  <a:pt x="0" y="13375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063713" y="729403"/>
            <a:ext cx="2154276" cy="566752"/>
          </a:xfrm>
          <a:prstGeom prst="rect">
            <a:avLst/>
          </a:prstGeom>
        </p:spPr>
        <p:txBody>
          <a:bodyPr anchor="t" rtlCol="false" tIns="0" lIns="0" bIns="0" rIns="0">
            <a:spAutoFit/>
          </a:bodyPr>
          <a:lstStyle/>
          <a:p>
            <a:pPr algn="l">
              <a:lnSpc>
                <a:spcPts val="4461"/>
              </a:lnSpc>
              <a:spcBef>
                <a:spcPct val="0"/>
              </a:spcBef>
            </a:pPr>
            <a:r>
              <a:rPr lang="en-US" b="true" sz="3186" spc="-63">
                <a:solidFill>
                  <a:srgbClr val="5B98BA"/>
                </a:solidFill>
                <a:latin typeface="Poppins Bold"/>
                <a:ea typeface="Poppins Bold"/>
                <a:cs typeface="Poppins Bold"/>
                <a:sym typeface="Poppins Bold"/>
              </a:rPr>
              <a:t>CEEGY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331342" y="4610947"/>
            <a:ext cx="15625316" cy="6756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Poppins"/>
                <a:ea typeface="Poppins"/>
                <a:cs typeface="Poppins"/>
                <a:sym typeface="Poppins"/>
              </a:rPr>
              <a:t>"Elon Musk: “So... y</a:t>
            </a:r>
            <a:r>
              <a:rPr lang="en-US" sz="1899">
                <a:solidFill>
                  <a:srgbClr val="000000"/>
                </a:solidFill>
                <a:latin typeface="Poppins"/>
                <a:ea typeface="Poppins"/>
                <a:cs typeface="Poppins"/>
                <a:sym typeface="Poppins"/>
              </a:rPr>
              <a:t>ou're applying for the Tesla Summer Data Science Internship.</a:t>
            </a:r>
          </a:p>
          <a:p>
            <a:pPr algn="ctr">
              <a:lnSpc>
                <a:spcPts val="2659"/>
              </a:lnSpc>
              <a:spcBef>
                <a:spcPct val="0"/>
              </a:spcBef>
            </a:pPr>
            <a:r>
              <a:rPr lang="en-US" sz="1899">
                <a:solidFill>
                  <a:srgbClr val="000000"/>
                </a:solidFill>
                <a:latin typeface="Poppins"/>
                <a:ea typeface="Poppins"/>
                <a:cs typeface="Poppins"/>
                <a:sym typeface="Poppins"/>
              </a:rPr>
              <a:t>I heard you're working on insurance... loss prediction? Yeah Cool. How'd you get started with it? Like, can you walk me through it...?’”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0">
            <a:off x="8618101" y="7094753"/>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7905455" y="2656032"/>
            <a:ext cx="373607" cy="37360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4" id="14"/>
            <p:cNvSpPr txBox="true"/>
            <p:nvPr/>
          </p:nvSpPr>
          <p:spPr>
            <a:xfrm>
              <a:off x="76200" y="9525"/>
              <a:ext cx="660400" cy="727075"/>
            </a:xfrm>
            <a:prstGeom prst="rect">
              <a:avLst/>
            </a:prstGeom>
          </p:spPr>
          <p:txBody>
            <a:bodyPr anchor="ctr" rtlCol="false" tIns="0" lIns="0" bIns="0" rIns="0"/>
            <a:lstStyle/>
            <a:p>
              <a:pPr algn="ctr">
                <a:lnSpc>
                  <a:spcPts val="3640"/>
                </a:lnSpc>
              </a:pPr>
            </a:p>
          </p:txBody>
        </p:sp>
      </p:grpSp>
      <p:grpSp>
        <p:nvGrpSpPr>
          <p:cNvPr name="Group 15" id="15"/>
          <p:cNvGrpSpPr/>
          <p:nvPr/>
        </p:nvGrpSpPr>
        <p:grpSpPr>
          <a:xfrm rot="0">
            <a:off x="8315313" y="4180490"/>
            <a:ext cx="373607" cy="37360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7" id="17"/>
            <p:cNvSpPr txBox="true"/>
            <p:nvPr/>
          </p:nvSpPr>
          <p:spPr>
            <a:xfrm>
              <a:off x="76200" y="9525"/>
              <a:ext cx="660400" cy="727075"/>
            </a:xfrm>
            <a:prstGeom prst="rect">
              <a:avLst/>
            </a:prstGeom>
          </p:spPr>
          <p:txBody>
            <a:bodyPr anchor="ctr" rtlCol="false" tIns="0" lIns="0" bIns="0" rIns="0"/>
            <a:lstStyle/>
            <a:p>
              <a:pPr algn="ctr">
                <a:lnSpc>
                  <a:spcPts val="3640"/>
                </a:lnSpc>
              </a:pPr>
            </a:p>
          </p:txBody>
        </p:sp>
      </p:grpSp>
      <p:grpSp>
        <p:nvGrpSpPr>
          <p:cNvPr name="Group 18" id="18"/>
          <p:cNvGrpSpPr/>
          <p:nvPr/>
        </p:nvGrpSpPr>
        <p:grpSpPr>
          <a:xfrm rot="0">
            <a:off x="7944228" y="7402839"/>
            <a:ext cx="373607" cy="37360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0" id="20"/>
            <p:cNvSpPr txBox="true"/>
            <p:nvPr/>
          </p:nvSpPr>
          <p:spPr>
            <a:xfrm>
              <a:off x="76200" y="9525"/>
              <a:ext cx="660400" cy="727075"/>
            </a:xfrm>
            <a:prstGeom prst="rect">
              <a:avLst/>
            </a:prstGeom>
          </p:spPr>
          <p:txBody>
            <a:bodyPr anchor="ctr" rtlCol="false" tIns="0" lIns="0" bIns="0" rIns="0"/>
            <a:lstStyle/>
            <a:p>
              <a:pPr algn="ctr">
                <a:lnSpc>
                  <a:spcPts val="3640"/>
                </a:lnSpc>
              </a:pPr>
            </a:p>
          </p:txBody>
        </p:sp>
      </p:grpSp>
      <p:grpSp>
        <p:nvGrpSpPr>
          <p:cNvPr name="Group 21" id="21"/>
          <p:cNvGrpSpPr/>
          <p:nvPr/>
        </p:nvGrpSpPr>
        <p:grpSpPr>
          <a:xfrm rot="0">
            <a:off x="8309460" y="5760481"/>
            <a:ext cx="373607" cy="37360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3" id="23"/>
            <p:cNvSpPr txBox="true"/>
            <p:nvPr/>
          </p:nvSpPr>
          <p:spPr>
            <a:xfrm>
              <a:off x="76200" y="9525"/>
              <a:ext cx="660400" cy="727075"/>
            </a:xfrm>
            <a:prstGeom prst="rect">
              <a:avLst/>
            </a:prstGeom>
          </p:spPr>
          <p:txBody>
            <a:bodyPr anchor="ctr" rtlCol="false" tIns="0" lIns="0" bIns="0" rIns="0"/>
            <a:lstStyle/>
            <a:p>
              <a:pPr algn="ctr">
                <a:lnSpc>
                  <a:spcPts val="3640"/>
                </a:lnSpc>
              </a:pPr>
            </a:p>
          </p:txBody>
        </p:sp>
      </p:grpSp>
      <p:pic>
        <p:nvPicPr>
          <p:cNvPr name="Picture 24" id="24"/>
          <p:cNvPicPr>
            <a:picLocks noChangeAspect="true"/>
          </p:cNvPicPr>
          <p:nvPr/>
        </p:nvPicPr>
        <p:blipFill>
          <a:blip r:embed="rId5"/>
          <a:srcRect l="0" t="0" r="0" b="0"/>
          <a:stretch>
            <a:fillRect/>
          </a:stretch>
        </p:blipFill>
        <p:spPr>
          <a:xfrm flipH="false" flipV="false" rot="0">
            <a:off x="266700" y="7743657"/>
            <a:ext cx="5715378" cy="2543343"/>
          </a:xfrm>
          <a:prstGeom prst="rect">
            <a:avLst/>
          </a:prstGeom>
        </p:spPr>
      </p:pic>
      <p:sp>
        <p:nvSpPr>
          <p:cNvPr name="TextBox 25" id="25"/>
          <p:cNvSpPr txBox="true"/>
          <p:nvPr/>
        </p:nvSpPr>
        <p:spPr>
          <a:xfrm rot="0">
            <a:off x="642351" y="4527624"/>
            <a:ext cx="6537358" cy="1060301"/>
          </a:xfrm>
          <a:prstGeom prst="rect">
            <a:avLst/>
          </a:prstGeom>
        </p:spPr>
        <p:txBody>
          <a:bodyPr anchor="t" rtlCol="false" tIns="0" lIns="0" bIns="0" rIns="0">
            <a:spAutoFit/>
          </a:bodyPr>
          <a:lstStyle/>
          <a:p>
            <a:pPr algn="l" marL="0" indent="0" lvl="0">
              <a:lnSpc>
                <a:spcPts val="8233"/>
              </a:lnSpc>
              <a:spcBef>
                <a:spcPct val="0"/>
              </a:spcBef>
            </a:pPr>
            <a:r>
              <a:rPr lang="en-US" b="true" sz="5880">
                <a:solidFill>
                  <a:srgbClr val="FDFDFD"/>
                </a:solidFill>
                <a:latin typeface="Poppins Bold"/>
                <a:ea typeface="Poppins Bold"/>
                <a:cs typeface="Poppins Bold"/>
                <a:sym typeface="Poppins Bold"/>
              </a:rPr>
              <a:t>Data Processing</a:t>
            </a:r>
          </a:p>
        </p:txBody>
      </p:sp>
      <p:sp>
        <p:nvSpPr>
          <p:cNvPr name="TextBox 26" id="26"/>
          <p:cNvSpPr txBox="true"/>
          <p:nvPr/>
        </p:nvSpPr>
        <p:spPr>
          <a:xfrm rot="0">
            <a:off x="10280481" y="2069778"/>
            <a:ext cx="6944008" cy="945328"/>
          </a:xfrm>
          <a:prstGeom prst="rect">
            <a:avLst/>
          </a:prstGeom>
        </p:spPr>
        <p:txBody>
          <a:bodyPr anchor="t" rtlCol="false" tIns="0" lIns="0" bIns="0" rIns="0">
            <a:spAutoFit/>
          </a:bodyPr>
          <a:lstStyle/>
          <a:p>
            <a:pPr algn="l">
              <a:lnSpc>
                <a:spcPts val="2495"/>
              </a:lnSpc>
            </a:pPr>
            <a:r>
              <a:rPr lang="en-US" b="true" sz="1782" spc="-35" strike="noStrike" u="none">
                <a:solidFill>
                  <a:srgbClr val="145DA0"/>
                </a:solidFill>
                <a:latin typeface="Poppins Bold"/>
                <a:ea typeface="Poppins Bold"/>
                <a:cs typeface="Poppins Bold"/>
                <a:sym typeface="Poppins Bold"/>
              </a:rPr>
              <a:t>LC &amp; HALC &amp; CS Calculation</a:t>
            </a:r>
            <a:r>
              <a:rPr lang="en-US" sz="1782" spc="-35" strike="noStrike" u="none">
                <a:solidFill>
                  <a:srgbClr val="145DA0"/>
                </a:solidFill>
                <a:latin typeface="Poppins"/>
                <a:ea typeface="Poppins"/>
                <a:cs typeface="Poppins"/>
                <a:sym typeface="Poppins"/>
              </a:rPr>
              <a:t> – Targets defined by project; reflect core business risk.</a:t>
            </a:r>
          </a:p>
          <a:p>
            <a:pPr algn="l">
              <a:lnSpc>
                <a:spcPts val="2495"/>
              </a:lnSpc>
            </a:pPr>
          </a:p>
        </p:txBody>
      </p:sp>
      <p:sp>
        <p:nvSpPr>
          <p:cNvPr name="TextBox 27" id="27"/>
          <p:cNvSpPr txBox="true"/>
          <p:nvPr/>
        </p:nvSpPr>
        <p:spPr>
          <a:xfrm rot="0">
            <a:off x="8763159" y="1984053"/>
            <a:ext cx="1134140" cy="85878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Poppins"/>
                <a:ea typeface="Poppins"/>
                <a:cs typeface="Poppins"/>
                <a:sym typeface="Poppins"/>
              </a:rPr>
              <a:t>01</a:t>
            </a:r>
          </a:p>
        </p:txBody>
      </p:sp>
      <p:sp>
        <p:nvSpPr>
          <p:cNvPr name="TextBox 28" id="28"/>
          <p:cNvSpPr txBox="true"/>
          <p:nvPr/>
        </p:nvSpPr>
        <p:spPr>
          <a:xfrm rot="0">
            <a:off x="10688346" y="3599072"/>
            <a:ext cx="5768345" cy="945328"/>
          </a:xfrm>
          <a:prstGeom prst="rect">
            <a:avLst/>
          </a:prstGeom>
        </p:spPr>
        <p:txBody>
          <a:bodyPr anchor="t" rtlCol="false" tIns="0" lIns="0" bIns="0" rIns="0">
            <a:spAutoFit/>
          </a:bodyPr>
          <a:lstStyle/>
          <a:p>
            <a:pPr algn="l">
              <a:lnSpc>
                <a:spcPts val="2495"/>
              </a:lnSpc>
            </a:pPr>
            <a:r>
              <a:rPr lang="en-US" b="true" sz="1782" spc="-35">
                <a:solidFill>
                  <a:srgbClr val="145DA0"/>
                </a:solidFill>
                <a:latin typeface="Poppins Bold"/>
                <a:ea typeface="Poppins Bold"/>
                <a:cs typeface="Poppins Bold"/>
                <a:sym typeface="Poppins Bold"/>
              </a:rPr>
              <a:t>Da</a:t>
            </a:r>
            <a:r>
              <a:rPr lang="en-US" b="true" sz="1782" spc="-35" strike="noStrike" u="none">
                <a:solidFill>
                  <a:srgbClr val="145DA0"/>
                </a:solidFill>
                <a:latin typeface="Poppins Bold"/>
                <a:ea typeface="Poppins Bold"/>
                <a:cs typeface="Poppins Bold"/>
                <a:sym typeface="Poppins Bold"/>
              </a:rPr>
              <a:t>te Conversion </a:t>
            </a:r>
            <a:r>
              <a:rPr lang="en-US" sz="1782" spc="-35" strike="noStrike" u="none">
                <a:solidFill>
                  <a:srgbClr val="145DA0"/>
                </a:solidFill>
                <a:latin typeface="Poppins"/>
                <a:ea typeface="Poppins"/>
                <a:cs typeface="Poppins"/>
                <a:sym typeface="Poppins"/>
              </a:rPr>
              <a:t>– Transformed into driver age, license age, vehicle age, policy duration — critical rating factors.</a:t>
            </a:r>
          </a:p>
        </p:txBody>
      </p:sp>
      <p:sp>
        <p:nvSpPr>
          <p:cNvPr name="TextBox 29" id="29"/>
          <p:cNvSpPr txBox="true"/>
          <p:nvPr/>
        </p:nvSpPr>
        <p:spPr>
          <a:xfrm rot="0">
            <a:off x="9289058" y="3757453"/>
            <a:ext cx="1134140" cy="85878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Poppins"/>
                <a:ea typeface="Poppins"/>
                <a:cs typeface="Poppins"/>
                <a:sym typeface="Poppins"/>
              </a:rPr>
              <a:t>02</a:t>
            </a:r>
          </a:p>
        </p:txBody>
      </p:sp>
      <p:sp>
        <p:nvSpPr>
          <p:cNvPr name="TextBox 30" id="30"/>
          <p:cNvSpPr txBox="true"/>
          <p:nvPr/>
        </p:nvSpPr>
        <p:spPr>
          <a:xfrm rot="0">
            <a:off x="10688346" y="5607970"/>
            <a:ext cx="5768345" cy="945328"/>
          </a:xfrm>
          <a:prstGeom prst="rect">
            <a:avLst/>
          </a:prstGeom>
        </p:spPr>
        <p:txBody>
          <a:bodyPr anchor="t" rtlCol="false" tIns="0" lIns="0" bIns="0" rIns="0">
            <a:spAutoFit/>
          </a:bodyPr>
          <a:lstStyle/>
          <a:p>
            <a:pPr algn="l">
              <a:lnSpc>
                <a:spcPts val="2495"/>
              </a:lnSpc>
            </a:pPr>
            <a:r>
              <a:rPr lang="en-US" b="true" sz="1782" spc="-35" strike="noStrike" u="none">
                <a:solidFill>
                  <a:srgbClr val="145DA0"/>
                </a:solidFill>
                <a:latin typeface="Poppins Bold"/>
                <a:ea typeface="Poppins Bold"/>
                <a:cs typeface="Poppins Bold"/>
                <a:sym typeface="Poppins Bold"/>
              </a:rPr>
              <a:t>One-Hot Encoding</a:t>
            </a:r>
            <a:r>
              <a:rPr lang="en-US" sz="1782" spc="-35" strike="noStrike" u="none">
                <a:solidFill>
                  <a:srgbClr val="145DA0"/>
                </a:solidFill>
                <a:latin typeface="Poppins"/>
                <a:ea typeface="Poppins"/>
                <a:cs typeface="Poppins"/>
                <a:sym typeface="Poppins"/>
              </a:rPr>
              <a:t> – Risk Type (Motorbikes vs. passenger),  Channel (Agent vs. broker), and Energy Source (Diesel vs petrol)</a:t>
            </a:r>
          </a:p>
        </p:txBody>
      </p:sp>
      <p:sp>
        <p:nvSpPr>
          <p:cNvPr name="TextBox 31" id="31"/>
          <p:cNvSpPr txBox="true"/>
          <p:nvPr/>
        </p:nvSpPr>
        <p:spPr>
          <a:xfrm rot="0">
            <a:off x="9289058" y="5534134"/>
            <a:ext cx="1134140" cy="85878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Poppins"/>
                <a:ea typeface="Poppins"/>
                <a:cs typeface="Poppins"/>
                <a:sym typeface="Poppins"/>
              </a:rPr>
              <a:t>03</a:t>
            </a:r>
          </a:p>
        </p:txBody>
      </p:sp>
      <p:sp>
        <p:nvSpPr>
          <p:cNvPr name="TextBox 32" id="32"/>
          <p:cNvSpPr txBox="true"/>
          <p:nvPr/>
        </p:nvSpPr>
        <p:spPr>
          <a:xfrm rot="0">
            <a:off x="10280481" y="7542018"/>
            <a:ext cx="5768345" cy="945328"/>
          </a:xfrm>
          <a:prstGeom prst="rect">
            <a:avLst/>
          </a:prstGeom>
        </p:spPr>
        <p:txBody>
          <a:bodyPr anchor="t" rtlCol="false" tIns="0" lIns="0" bIns="0" rIns="0">
            <a:spAutoFit/>
          </a:bodyPr>
          <a:lstStyle/>
          <a:p>
            <a:pPr algn="l">
              <a:lnSpc>
                <a:spcPts val="2495"/>
              </a:lnSpc>
            </a:pPr>
            <a:r>
              <a:rPr lang="en-US" b="true" sz="1782" spc="-35" strike="noStrike" u="none">
                <a:solidFill>
                  <a:srgbClr val="145DA0"/>
                </a:solidFill>
                <a:latin typeface="Poppins Bold"/>
                <a:ea typeface="Poppins Bold"/>
                <a:cs typeface="Poppins Bold"/>
                <a:sym typeface="Poppins Bold"/>
              </a:rPr>
              <a:t>Null Handling</a:t>
            </a:r>
            <a:r>
              <a:rPr lang="en-US" sz="1782" spc="-35" strike="noStrike" u="none">
                <a:solidFill>
                  <a:srgbClr val="145DA0"/>
                </a:solidFill>
                <a:latin typeface="Poppins"/>
                <a:ea typeface="Poppins"/>
                <a:cs typeface="Poppins"/>
                <a:sym typeface="Poppins"/>
              </a:rPr>
              <a:t> – Diesel, petrol, and “other” fuel types affect operating cost &amp; usage patterns.</a:t>
            </a:r>
          </a:p>
          <a:p>
            <a:pPr algn="l">
              <a:lnSpc>
                <a:spcPts val="2495"/>
              </a:lnSpc>
            </a:pPr>
          </a:p>
        </p:txBody>
      </p:sp>
      <p:sp>
        <p:nvSpPr>
          <p:cNvPr name="TextBox 33" id="33"/>
          <p:cNvSpPr txBox="true"/>
          <p:nvPr/>
        </p:nvSpPr>
        <p:spPr>
          <a:xfrm rot="0">
            <a:off x="8763159" y="7310815"/>
            <a:ext cx="1134140" cy="85878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Poppins"/>
                <a:ea typeface="Poppins"/>
                <a:cs typeface="Poppins"/>
                <a:sym typeface="Poppins"/>
              </a:rPr>
              <a:t>04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47242" y="242294"/>
            <a:ext cx="17793515" cy="9802411"/>
            <a:chOff x="0" y="0"/>
            <a:chExt cx="4982580" cy="2744893"/>
          </a:xfrm>
        </p:grpSpPr>
        <p:sp>
          <p:nvSpPr>
            <p:cNvPr name="Freeform 3" id="3"/>
            <p:cNvSpPr/>
            <p:nvPr/>
          </p:nvSpPr>
          <p:spPr>
            <a:xfrm flipH="false" flipV="false" rot="0">
              <a:off x="0" y="0"/>
              <a:ext cx="4982580" cy="2744893"/>
            </a:xfrm>
            <a:custGeom>
              <a:avLst/>
              <a:gdLst/>
              <a:ahLst/>
              <a:cxnLst/>
              <a:rect r="r" b="b" t="t" l="l"/>
              <a:pathLst>
                <a:path h="2744893" w="4982580">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name="TextBox 4" id="4"/>
            <p:cNvSpPr txBox="true"/>
            <p:nvPr/>
          </p:nvSpPr>
          <p:spPr>
            <a:xfrm>
              <a:off x="0" y="-38100"/>
              <a:ext cx="4982580" cy="2782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503487" y="7031779"/>
            <a:ext cx="4987072" cy="513463"/>
          </a:xfrm>
          <a:custGeom>
            <a:avLst/>
            <a:gdLst/>
            <a:ahLst/>
            <a:cxnLst/>
            <a:rect r="r" b="b" t="t" l="l"/>
            <a:pathLst>
              <a:path h="513463" w="4987072">
                <a:moveTo>
                  <a:pt x="0" y="0"/>
                </a:moveTo>
                <a:lnTo>
                  <a:pt x="4987072" y="0"/>
                </a:lnTo>
                <a:lnTo>
                  <a:pt x="4987072" y="513463"/>
                </a:lnTo>
                <a:lnTo>
                  <a:pt x="0" y="513463"/>
                </a:lnTo>
                <a:lnTo>
                  <a:pt x="0" y="0"/>
                </a:lnTo>
                <a:close/>
              </a:path>
            </a:pathLst>
          </a:custGeom>
          <a:blipFill>
            <a:blip r:embed="rId3"/>
            <a:stretch>
              <a:fillRect l="0" t="-73722" r="0" b="-18102"/>
            </a:stretch>
          </a:blipFill>
        </p:spPr>
      </p:sp>
      <p:grpSp>
        <p:nvGrpSpPr>
          <p:cNvPr name="Group 6" id="6"/>
          <p:cNvGrpSpPr/>
          <p:nvPr/>
        </p:nvGrpSpPr>
        <p:grpSpPr>
          <a:xfrm rot="0">
            <a:off x="2474514" y="1975971"/>
            <a:ext cx="6362572" cy="5265066"/>
            <a:chOff x="0" y="0"/>
            <a:chExt cx="2432861" cy="2013207"/>
          </a:xfrm>
        </p:grpSpPr>
        <p:sp>
          <p:nvSpPr>
            <p:cNvPr name="Freeform 7" id="7"/>
            <p:cNvSpPr/>
            <p:nvPr/>
          </p:nvSpPr>
          <p:spPr>
            <a:xfrm flipH="false" flipV="false" rot="0">
              <a:off x="0" y="0"/>
              <a:ext cx="2432861" cy="2013207"/>
            </a:xfrm>
            <a:custGeom>
              <a:avLst/>
              <a:gdLst/>
              <a:ahLst/>
              <a:cxnLst/>
              <a:rect r="r" b="b" t="t" l="l"/>
              <a:pathLst>
                <a:path h="2013207" w="2432861">
                  <a:moveTo>
                    <a:pt x="30420" y="0"/>
                  </a:moveTo>
                  <a:lnTo>
                    <a:pt x="2402441" y="0"/>
                  </a:lnTo>
                  <a:cubicBezTo>
                    <a:pt x="2410509" y="0"/>
                    <a:pt x="2418247" y="3205"/>
                    <a:pt x="2423951" y="8910"/>
                  </a:cubicBezTo>
                  <a:cubicBezTo>
                    <a:pt x="2429656" y="14615"/>
                    <a:pt x="2432861" y="22352"/>
                    <a:pt x="2432861" y="30420"/>
                  </a:cubicBezTo>
                  <a:lnTo>
                    <a:pt x="2432861" y="1982787"/>
                  </a:lnTo>
                  <a:cubicBezTo>
                    <a:pt x="2432861" y="1990855"/>
                    <a:pt x="2429656" y="1998592"/>
                    <a:pt x="2423951" y="2004297"/>
                  </a:cubicBezTo>
                  <a:cubicBezTo>
                    <a:pt x="2418247" y="2010002"/>
                    <a:pt x="2410509" y="2013207"/>
                    <a:pt x="2402441" y="2013207"/>
                  </a:cubicBezTo>
                  <a:lnTo>
                    <a:pt x="30420" y="2013207"/>
                  </a:lnTo>
                  <a:cubicBezTo>
                    <a:pt x="22352" y="2013207"/>
                    <a:pt x="14615" y="2010002"/>
                    <a:pt x="8910" y="2004297"/>
                  </a:cubicBezTo>
                  <a:cubicBezTo>
                    <a:pt x="3205" y="1998592"/>
                    <a:pt x="0" y="1990855"/>
                    <a:pt x="0" y="1982787"/>
                  </a:cubicBezTo>
                  <a:lnTo>
                    <a:pt x="0" y="30420"/>
                  </a:lnTo>
                  <a:cubicBezTo>
                    <a:pt x="0" y="22352"/>
                    <a:pt x="3205" y="14615"/>
                    <a:pt x="8910" y="8910"/>
                  </a:cubicBezTo>
                  <a:cubicBezTo>
                    <a:pt x="14615" y="3205"/>
                    <a:pt x="22352" y="0"/>
                    <a:pt x="30420" y="0"/>
                  </a:cubicBezTo>
                  <a:close/>
                </a:path>
              </a:pathLst>
            </a:custGeom>
            <a:solidFill>
              <a:srgbClr val="FDFDFD"/>
            </a:solidFill>
            <a:ln w="38100" cap="rnd">
              <a:solidFill>
                <a:srgbClr val="145DA0"/>
              </a:solidFill>
              <a:prstDash val="solid"/>
              <a:round/>
            </a:ln>
          </p:spPr>
        </p:sp>
        <p:sp>
          <p:nvSpPr>
            <p:cNvPr name="TextBox 8" id="8"/>
            <p:cNvSpPr txBox="true"/>
            <p:nvPr/>
          </p:nvSpPr>
          <p:spPr>
            <a:xfrm>
              <a:off x="0" y="-57150"/>
              <a:ext cx="2432861" cy="20703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9" id="9"/>
          <p:cNvSpPr/>
          <p:nvPr/>
        </p:nvSpPr>
        <p:spPr>
          <a:xfrm>
            <a:off x="2503487" y="6131976"/>
            <a:ext cx="6333599" cy="7406"/>
          </a:xfrm>
          <a:prstGeom prst="line">
            <a:avLst/>
          </a:prstGeom>
          <a:ln cap="flat" w="28575">
            <a:solidFill>
              <a:srgbClr val="145DA0"/>
            </a:solidFill>
            <a:prstDash val="solid"/>
            <a:headEnd type="none" len="sm" w="sm"/>
            <a:tailEnd type="none" len="sm" w="sm"/>
          </a:ln>
        </p:spPr>
      </p:sp>
      <p:sp>
        <p:nvSpPr>
          <p:cNvPr name="TextBox 10" id="10"/>
          <p:cNvSpPr txBox="true"/>
          <p:nvPr/>
        </p:nvSpPr>
        <p:spPr>
          <a:xfrm rot="0">
            <a:off x="5201579" y="477226"/>
            <a:ext cx="7884841" cy="901699"/>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569E"/>
                </a:solidFill>
                <a:latin typeface="Poppins Bold"/>
                <a:ea typeface="Poppins Bold"/>
                <a:cs typeface="Poppins Bold"/>
                <a:sym typeface="Poppins Bold"/>
              </a:rPr>
              <a:t>Outliers</a:t>
            </a:r>
          </a:p>
        </p:txBody>
      </p:sp>
      <p:sp>
        <p:nvSpPr>
          <p:cNvPr name="TextBox 11" id="11"/>
          <p:cNvSpPr txBox="true"/>
          <p:nvPr/>
        </p:nvSpPr>
        <p:spPr>
          <a:xfrm rot="0">
            <a:off x="2757278" y="2105277"/>
            <a:ext cx="5760452" cy="1218046"/>
          </a:xfrm>
          <a:prstGeom prst="rect">
            <a:avLst/>
          </a:prstGeom>
        </p:spPr>
        <p:txBody>
          <a:bodyPr anchor="t" rtlCol="false" tIns="0" lIns="0" bIns="0" rIns="0">
            <a:spAutoFit/>
          </a:bodyPr>
          <a:lstStyle/>
          <a:p>
            <a:pPr algn="just">
              <a:lnSpc>
                <a:spcPts val="3248"/>
              </a:lnSpc>
              <a:spcBef>
                <a:spcPct val="0"/>
              </a:spcBef>
            </a:pPr>
            <a:r>
              <a:rPr lang="en-US" sz="2320">
                <a:solidFill>
                  <a:srgbClr val="00569E"/>
                </a:solidFill>
                <a:latin typeface="Poppins"/>
                <a:ea typeface="Poppins"/>
                <a:cs typeface="Poppins"/>
                <a:sym typeface="Poppins"/>
              </a:rPr>
              <a:t>            </a:t>
            </a:r>
            <a:r>
              <a:rPr lang="en-US" b="true" sz="2320">
                <a:solidFill>
                  <a:srgbClr val="00569E"/>
                </a:solidFill>
                <a:latin typeface="Poppins Bold"/>
                <a:ea typeface="Poppins Bold"/>
                <a:cs typeface="Poppins Bold"/>
                <a:sym typeface="Poppins Bold"/>
              </a:rPr>
              <a:t>Top 10</a:t>
            </a:r>
            <a:r>
              <a:rPr lang="en-US" sz="2320">
                <a:solidFill>
                  <a:srgbClr val="00569E"/>
                </a:solidFill>
                <a:latin typeface="Poppins"/>
                <a:ea typeface="Poppins"/>
                <a:cs typeface="Poppins"/>
                <a:sym typeface="Poppins"/>
              </a:rPr>
              <a:t> </a:t>
            </a:r>
            <a:r>
              <a:rPr lang="en-US" sz="2320">
                <a:solidFill>
                  <a:srgbClr val="00569E"/>
                </a:solidFill>
                <a:latin typeface="Poppins"/>
                <a:ea typeface="Poppins"/>
                <a:cs typeface="Poppins"/>
                <a:sym typeface="Poppins"/>
              </a:rPr>
              <a:t>numbers in 'LC' </a:t>
            </a:r>
          </a:p>
          <a:p>
            <a:pPr algn="just">
              <a:lnSpc>
                <a:spcPts val="2128"/>
              </a:lnSpc>
              <a:spcBef>
                <a:spcPct val="0"/>
              </a:spcBef>
            </a:pPr>
          </a:p>
          <a:p>
            <a:pPr algn="just">
              <a:lnSpc>
                <a:spcPts val="2128"/>
              </a:lnSpc>
              <a:spcBef>
                <a:spcPct val="0"/>
              </a:spcBef>
            </a:pPr>
          </a:p>
          <a:p>
            <a:pPr algn="just">
              <a:lnSpc>
                <a:spcPts val="2128"/>
              </a:lnSpc>
              <a:spcBef>
                <a:spcPct val="0"/>
              </a:spcBef>
            </a:pPr>
          </a:p>
        </p:txBody>
      </p:sp>
      <p:pic>
        <p:nvPicPr>
          <p:cNvPr name="Picture 12" id="12"/>
          <p:cNvPicPr>
            <a:picLocks noChangeAspect="true"/>
          </p:cNvPicPr>
          <p:nvPr/>
        </p:nvPicPr>
        <p:blipFill>
          <a:blip r:embed="rId4"/>
          <a:stretch>
            <a:fillRect/>
          </a:stretch>
        </p:blipFill>
        <p:spPr>
          <a:xfrm rot="0">
            <a:off x="2649686" y="2244906"/>
            <a:ext cx="5975634" cy="4235735"/>
          </a:xfrm>
          <a:prstGeom prst="rect">
            <a:avLst/>
          </a:prstGeom>
        </p:spPr>
      </p:pic>
      <p:sp>
        <p:nvSpPr>
          <p:cNvPr name="TextBox 13" id="13"/>
          <p:cNvSpPr txBox="true"/>
          <p:nvPr/>
        </p:nvSpPr>
        <p:spPr>
          <a:xfrm rot="0">
            <a:off x="3390617" y="1586766"/>
            <a:ext cx="4099942" cy="391659"/>
          </a:xfrm>
          <a:prstGeom prst="rect">
            <a:avLst/>
          </a:prstGeom>
        </p:spPr>
        <p:txBody>
          <a:bodyPr anchor="t" rtlCol="false" tIns="0" lIns="0" bIns="0" rIns="0">
            <a:spAutoFit/>
          </a:bodyPr>
          <a:lstStyle/>
          <a:p>
            <a:pPr algn="ctr">
              <a:lnSpc>
                <a:spcPts val="3087"/>
              </a:lnSpc>
              <a:spcBef>
                <a:spcPct val="0"/>
              </a:spcBef>
            </a:pPr>
            <a:r>
              <a:rPr lang="en-US" sz="2205">
                <a:solidFill>
                  <a:srgbClr val="00569E"/>
                </a:solidFill>
                <a:latin typeface="Poppins"/>
                <a:ea typeface="Poppins"/>
                <a:cs typeface="Poppins"/>
                <a:sym typeface="Poppins"/>
              </a:rPr>
              <a:t>Number of 0 in 'LC' : </a:t>
            </a:r>
            <a:r>
              <a:rPr lang="en-US" b="true" sz="2205">
                <a:solidFill>
                  <a:srgbClr val="00569E"/>
                </a:solidFill>
                <a:latin typeface="Poppins Bold"/>
                <a:ea typeface="Poppins Bold"/>
                <a:cs typeface="Poppins Bold"/>
                <a:sym typeface="Poppins Bold"/>
              </a:rPr>
              <a:t>33300</a:t>
            </a:r>
          </a:p>
        </p:txBody>
      </p:sp>
      <p:sp>
        <p:nvSpPr>
          <p:cNvPr name="TextBox 14" id="14"/>
          <p:cNvSpPr txBox="true"/>
          <p:nvPr/>
        </p:nvSpPr>
        <p:spPr>
          <a:xfrm rot="0">
            <a:off x="2160589" y="6334645"/>
            <a:ext cx="6953829" cy="566420"/>
          </a:xfrm>
          <a:prstGeom prst="rect">
            <a:avLst/>
          </a:prstGeom>
        </p:spPr>
        <p:txBody>
          <a:bodyPr anchor="t" rtlCol="false" tIns="0" lIns="0" bIns="0" rIns="0">
            <a:spAutoFit/>
          </a:bodyPr>
          <a:lstStyle/>
          <a:p>
            <a:pPr algn="ctr" marL="0" indent="0" lvl="0">
              <a:lnSpc>
                <a:spcPts val="4480"/>
              </a:lnSpc>
              <a:spcBef>
                <a:spcPct val="0"/>
              </a:spcBef>
            </a:pPr>
            <a:r>
              <a:rPr lang="en-US" sz="3200">
                <a:solidFill>
                  <a:srgbClr val="145DA0"/>
                </a:solidFill>
                <a:latin typeface="Poppins"/>
                <a:ea typeface="Poppins"/>
                <a:cs typeface="Poppins"/>
                <a:sym typeface="Poppins"/>
              </a:rPr>
              <a:t>Min: 4        Max: 118,142</a:t>
            </a:r>
          </a:p>
        </p:txBody>
      </p:sp>
      <p:sp>
        <p:nvSpPr>
          <p:cNvPr name="Freeform 15" id="15"/>
          <p:cNvSpPr/>
          <p:nvPr/>
        </p:nvSpPr>
        <p:spPr>
          <a:xfrm flipH="false" flipV="false" rot="0">
            <a:off x="9550750" y="6984702"/>
            <a:ext cx="5045202" cy="513463"/>
          </a:xfrm>
          <a:custGeom>
            <a:avLst/>
            <a:gdLst/>
            <a:ahLst/>
            <a:cxnLst/>
            <a:rect r="r" b="b" t="t" l="l"/>
            <a:pathLst>
              <a:path h="513463" w="5045202">
                <a:moveTo>
                  <a:pt x="0" y="0"/>
                </a:moveTo>
                <a:lnTo>
                  <a:pt x="5045202" y="0"/>
                </a:lnTo>
                <a:lnTo>
                  <a:pt x="5045202" y="513463"/>
                </a:lnTo>
                <a:lnTo>
                  <a:pt x="0" y="513463"/>
                </a:lnTo>
                <a:lnTo>
                  <a:pt x="0" y="0"/>
                </a:lnTo>
                <a:close/>
              </a:path>
            </a:pathLst>
          </a:custGeom>
          <a:blipFill>
            <a:blip r:embed="rId3"/>
            <a:stretch>
              <a:fillRect l="0" t="-75164" r="0" b="-18896"/>
            </a:stretch>
          </a:blipFill>
        </p:spPr>
      </p:sp>
      <p:grpSp>
        <p:nvGrpSpPr>
          <p:cNvPr name="Group 16" id="16"/>
          <p:cNvGrpSpPr/>
          <p:nvPr/>
        </p:nvGrpSpPr>
        <p:grpSpPr>
          <a:xfrm rot="0">
            <a:off x="9521439" y="1928895"/>
            <a:ext cx="6436736" cy="5265066"/>
            <a:chOff x="0" y="0"/>
            <a:chExt cx="2461219" cy="2013207"/>
          </a:xfrm>
        </p:grpSpPr>
        <p:sp>
          <p:nvSpPr>
            <p:cNvPr name="Freeform 17" id="17"/>
            <p:cNvSpPr/>
            <p:nvPr/>
          </p:nvSpPr>
          <p:spPr>
            <a:xfrm flipH="false" flipV="false" rot="0">
              <a:off x="0" y="0"/>
              <a:ext cx="2461219" cy="2013207"/>
            </a:xfrm>
            <a:custGeom>
              <a:avLst/>
              <a:gdLst/>
              <a:ahLst/>
              <a:cxnLst/>
              <a:rect r="r" b="b" t="t" l="l"/>
              <a:pathLst>
                <a:path h="2013207" w="2461219">
                  <a:moveTo>
                    <a:pt x="30069" y="0"/>
                  </a:moveTo>
                  <a:lnTo>
                    <a:pt x="2431150" y="0"/>
                  </a:lnTo>
                  <a:cubicBezTo>
                    <a:pt x="2439125" y="0"/>
                    <a:pt x="2446773" y="3168"/>
                    <a:pt x="2452412" y="8807"/>
                  </a:cubicBezTo>
                  <a:cubicBezTo>
                    <a:pt x="2458051" y="14446"/>
                    <a:pt x="2461219" y="22094"/>
                    <a:pt x="2461219" y="30069"/>
                  </a:cubicBezTo>
                  <a:lnTo>
                    <a:pt x="2461219" y="1983137"/>
                  </a:lnTo>
                  <a:cubicBezTo>
                    <a:pt x="2461219" y="1999744"/>
                    <a:pt x="2447757" y="2013207"/>
                    <a:pt x="2431150" y="2013207"/>
                  </a:cubicBezTo>
                  <a:lnTo>
                    <a:pt x="30069" y="2013207"/>
                  </a:lnTo>
                  <a:cubicBezTo>
                    <a:pt x="13462" y="2013207"/>
                    <a:pt x="0" y="1999744"/>
                    <a:pt x="0" y="1983137"/>
                  </a:cubicBezTo>
                  <a:lnTo>
                    <a:pt x="0" y="30069"/>
                  </a:lnTo>
                  <a:cubicBezTo>
                    <a:pt x="0" y="13462"/>
                    <a:pt x="13462" y="0"/>
                    <a:pt x="30069" y="0"/>
                  </a:cubicBezTo>
                  <a:close/>
                </a:path>
              </a:pathLst>
            </a:custGeom>
            <a:solidFill>
              <a:srgbClr val="FDFDFD"/>
            </a:solidFill>
            <a:ln w="38100" cap="rnd">
              <a:solidFill>
                <a:srgbClr val="145DA0"/>
              </a:solidFill>
              <a:prstDash val="solid"/>
              <a:round/>
            </a:ln>
          </p:spPr>
        </p:sp>
        <p:sp>
          <p:nvSpPr>
            <p:cNvPr name="TextBox 18" id="18"/>
            <p:cNvSpPr txBox="true"/>
            <p:nvPr/>
          </p:nvSpPr>
          <p:spPr>
            <a:xfrm>
              <a:off x="0" y="-57150"/>
              <a:ext cx="2461219" cy="20703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9" id="19"/>
          <p:cNvSpPr/>
          <p:nvPr/>
        </p:nvSpPr>
        <p:spPr>
          <a:xfrm>
            <a:off x="9550750" y="6084900"/>
            <a:ext cx="6407425" cy="7406"/>
          </a:xfrm>
          <a:prstGeom prst="line">
            <a:avLst/>
          </a:prstGeom>
          <a:ln cap="flat" w="28575">
            <a:solidFill>
              <a:srgbClr val="145DA0"/>
            </a:solidFill>
            <a:prstDash val="solid"/>
            <a:headEnd type="none" len="sm" w="sm"/>
            <a:tailEnd type="none" len="sm" w="sm"/>
          </a:ln>
        </p:spPr>
      </p:sp>
      <p:sp>
        <p:nvSpPr>
          <p:cNvPr name="TextBox 20" id="20"/>
          <p:cNvSpPr txBox="true"/>
          <p:nvPr/>
        </p:nvSpPr>
        <p:spPr>
          <a:xfrm rot="0">
            <a:off x="9826008" y="2105277"/>
            <a:ext cx="5827598" cy="1218046"/>
          </a:xfrm>
          <a:prstGeom prst="rect">
            <a:avLst/>
          </a:prstGeom>
        </p:spPr>
        <p:txBody>
          <a:bodyPr anchor="t" rtlCol="false" tIns="0" lIns="0" bIns="0" rIns="0">
            <a:spAutoFit/>
          </a:bodyPr>
          <a:lstStyle/>
          <a:p>
            <a:pPr algn="just">
              <a:lnSpc>
                <a:spcPts val="3248"/>
              </a:lnSpc>
              <a:spcBef>
                <a:spcPct val="0"/>
              </a:spcBef>
            </a:pPr>
            <a:r>
              <a:rPr lang="en-US" sz="2320">
                <a:solidFill>
                  <a:srgbClr val="00569E"/>
                </a:solidFill>
                <a:latin typeface="Poppins"/>
                <a:ea typeface="Poppins"/>
                <a:cs typeface="Poppins"/>
                <a:sym typeface="Poppins"/>
              </a:rPr>
              <a:t>            </a:t>
            </a:r>
            <a:r>
              <a:rPr lang="en-US" b="true" sz="2320">
                <a:solidFill>
                  <a:srgbClr val="00569E"/>
                </a:solidFill>
                <a:latin typeface="Poppins Bold"/>
                <a:ea typeface="Poppins Bold"/>
                <a:cs typeface="Poppins Bold"/>
                <a:sym typeface="Poppins Bold"/>
              </a:rPr>
              <a:t>Top 10</a:t>
            </a:r>
            <a:r>
              <a:rPr lang="en-US" sz="2320">
                <a:solidFill>
                  <a:srgbClr val="00569E"/>
                </a:solidFill>
                <a:latin typeface="Poppins"/>
                <a:ea typeface="Poppins"/>
                <a:cs typeface="Poppins"/>
                <a:sym typeface="Poppins"/>
              </a:rPr>
              <a:t> </a:t>
            </a:r>
            <a:r>
              <a:rPr lang="en-US" sz="2320">
                <a:solidFill>
                  <a:srgbClr val="00569E"/>
                </a:solidFill>
                <a:latin typeface="Poppins"/>
                <a:ea typeface="Poppins"/>
                <a:cs typeface="Poppins"/>
                <a:sym typeface="Poppins"/>
              </a:rPr>
              <a:t>numbers in 'HALC' </a:t>
            </a:r>
          </a:p>
          <a:p>
            <a:pPr algn="just">
              <a:lnSpc>
                <a:spcPts val="2128"/>
              </a:lnSpc>
              <a:spcBef>
                <a:spcPct val="0"/>
              </a:spcBef>
            </a:pPr>
          </a:p>
          <a:p>
            <a:pPr algn="just">
              <a:lnSpc>
                <a:spcPts val="2128"/>
              </a:lnSpc>
              <a:spcBef>
                <a:spcPct val="0"/>
              </a:spcBef>
            </a:pPr>
          </a:p>
          <a:p>
            <a:pPr algn="just">
              <a:lnSpc>
                <a:spcPts val="2128"/>
              </a:lnSpc>
              <a:spcBef>
                <a:spcPct val="0"/>
              </a:spcBef>
            </a:pPr>
          </a:p>
        </p:txBody>
      </p:sp>
      <p:pic>
        <p:nvPicPr>
          <p:cNvPr name="Picture 21" id="21"/>
          <p:cNvPicPr>
            <a:picLocks noChangeAspect="true"/>
          </p:cNvPicPr>
          <p:nvPr/>
        </p:nvPicPr>
        <p:blipFill>
          <a:blip r:embed="rId5"/>
          <a:stretch>
            <a:fillRect/>
          </a:stretch>
        </p:blipFill>
        <p:spPr>
          <a:xfrm rot="0">
            <a:off x="9665485" y="2189010"/>
            <a:ext cx="6081472" cy="4253375"/>
          </a:xfrm>
          <a:prstGeom prst="rect">
            <a:avLst/>
          </a:prstGeom>
        </p:spPr>
      </p:pic>
      <p:sp>
        <p:nvSpPr>
          <p:cNvPr name="TextBox 22" id="22"/>
          <p:cNvSpPr txBox="true"/>
          <p:nvPr/>
        </p:nvSpPr>
        <p:spPr>
          <a:xfrm rot="0">
            <a:off x="10509458" y="1551184"/>
            <a:ext cx="4423679" cy="391659"/>
          </a:xfrm>
          <a:prstGeom prst="rect">
            <a:avLst/>
          </a:prstGeom>
        </p:spPr>
        <p:txBody>
          <a:bodyPr anchor="t" rtlCol="false" tIns="0" lIns="0" bIns="0" rIns="0">
            <a:spAutoFit/>
          </a:bodyPr>
          <a:lstStyle/>
          <a:p>
            <a:pPr algn="ctr">
              <a:lnSpc>
                <a:spcPts val="3087"/>
              </a:lnSpc>
              <a:spcBef>
                <a:spcPct val="0"/>
              </a:spcBef>
            </a:pPr>
            <a:r>
              <a:rPr lang="en-US" sz="2205">
                <a:solidFill>
                  <a:srgbClr val="00569E"/>
                </a:solidFill>
                <a:latin typeface="Poppins"/>
                <a:ea typeface="Poppins"/>
                <a:cs typeface="Poppins"/>
                <a:sym typeface="Poppins"/>
              </a:rPr>
              <a:t>Number of 0 in 'HALC' : </a:t>
            </a:r>
            <a:r>
              <a:rPr lang="en-US" b="true" sz="2205">
                <a:solidFill>
                  <a:srgbClr val="00569E"/>
                </a:solidFill>
                <a:latin typeface="Poppins Bold"/>
                <a:ea typeface="Poppins Bold"/>
                <a:cs typeface="Poppins Bold"/>
                <a:sym typeface="Poppins Bold"/>
              </a:rPr>
              <a:t>33317</a:t>
            </a:r>
          </a:p>
        </p:txBody>
      </p:sp>
      <p:sp>
        <p:nvSpPr>
          <p:cNvPr name="TextBox 23" id="23"/>
          <p:cNvSpPr txBox="true"/>
          <p:nvPr/>
        </p:nvSpPr>
        <p:spPr>
          <a:xfrm rot="0">
            <a:off x="9327140" y="6334645"/>
            <a:ext cx="7034885" cy="566420"/>
          </a:xfrm>
          <a:prstGeom prst="rect">
            <a:avLst/>
          </a:prstGeom>
        </p:spPr>
        <p:txBody>
          <a:bodyPr anchor="t" rtlCol="false" tIns="0" lIns="0" bIns="0" rIns="0">
            <a:spAutoFit/>
          </a:bodyPr>
          <a:lstStyle/>
          <a:p>
            <a:pPr algn="ctr" marL="0" indent="0" lvl="0">
              <a:lnSpc>
                <a:spcPts val="4480"/>
              </a:lnSpc>
              <a:spcBef>
                <a:spcPct val="0"/>
              </a:spcBef>
            </a:pPr>
            <a:r>
              <a:rPr lang="en-US" sz="3200">
                <a:solidFill>
                  <a:srgbClr val="145DA0"/>
                </a:solidFill>
                <a:latin typeface="Poppins"/>
                <a:ea typeface="Poppins"/>
                <a:cs typeface="Poppins"/>
                <a:sym typeface="Poppins"/>
              </a:rPr>
              <a:t>Min: 3     Max: 236,285</a:t>
            </a:r>
          </a:p>
        </p:txBody>
      </p:sp>
      <p:sp>
        <p:nvSpPr>
          <p:cNvPr name="TextBox 24" id="24"/>
          <p:cNvSpPr txBox="true"/>
          <p:nvPr/>
        </p:nvSpPr>
        <p:spPr>
          <a:xfrm rot="0">
            <a:off x="1698042" y="7621442"/>
            <a:ext cx="15258195" cy="2566036"/>
          </a:xfrm>
          <a:prstGeom prst="rect">
            <a:avLst/>
          </a:prstGeom>
        </p:spPr>
        <p:txBody>
          <a:bodyPr anchor="t" rtlCol="false" tIns="0" lIns="0" bIns="0" rIns="0">
            <a:spAutoFit/>
          </a:bodyPr>
          <a:lstStyle/>
          <a:p>
            <a:pPr algn="ctr">
              <a:lnSpc>
                <a:spcPts val="5039"/>
              </a:lnSpc>
              <a:spcBef>
                <a:spcPct val="0"/>
              </a:spcBef>
            </a:pPr>
            <a:r>
              <a:rPr lang="en-US" sz="3599">
                <a:solidFill>
                  <a:srgbClr val="145DA0"/>
                </a:solidFill>
                <a:latin typeface="Poppins"/>
                <a:ea typeface="Poppins"/>
                <a:cs typeface="Poppins"/>
                <a:sym typeface="Poppins"/>
              </a:rPr>
              <a:t>T</a:t>
            </a:r>
            <a:r>
              <a:rPr lang="en-US" sz="3599">
                <a:solidFill>
                  <a:srgbClr val="145DA0"/>
                </a:solidFill>
                <a:latin typeface="Poppins"/>
                <a:ea typeface="Poppins"/>
                <a:cs typeface="Poppins"/>
                <a:sym typeface="Poppins"/>
              </a:rPr>
              <a:t>o mitigate the influence of rare extreme claim values and maintain model stability to to avoid skewed model learning, we capped </a:t>
            </a:r>
            <a:r>
              <a:rPr lang="en-US" b="true" sz="3599">
                <a:solidFill>
                  <a:srgbClr val="145DA0"/>
                </a:solidFill>
                <a:latin typeface="Poppins Bold"/>
                <a:ea typeface="Poppins Bold"/>
                <a:cs typeface="Poppins Bold"/>
                <a:sym typeface="Poppins Bold"/>
              </a:rPr>
              <a:t>LC</a:t>
            </a:r>
            <a:r>
              <a:rPr lang="en-US" sz="3599">
                <a:solidFill>
                  <a:srgbClr val="145DA0"/>
                </a:solidFill>
                <a:latin typeface="Poppins"/>
                <a:ea typeface="Poppins"/>
                <a:cs typeface="Poppins"/>
                <a:sym typeface="Poppins"/>
              </a:rPr>
              <a:t> at </a:t>
            </a:r>
            <a:r>
              <a:rPr lang="en-US" b="true" sz="3599">
                <a:solidFill>
                  <a:srgbClr val="145DA0"/>
                </a:solidFill>
                <a:latin typeface="Poppins Bold"/>
                <a:ea typeface="Poppins Bold"/>
                <a:cs typeface="Poppins Bold"/>
                <a:sym typeface="Poppins Bold"/>
              </a:rPr>
              <a:t>$20,000</a:t>
            </a:r>
            <a:r>
              <a:rPr lang="en-US" sz="3599">
                <a:solidFill>
                  <a:srgbClr val="145DA0"/>
                </a:solidFill>
                <a:latin typeface="Poppins"/>
                <a:ea typeface="Poppins"/>
                <a:cs typeface="Poppins"/>
                <a:sym typeface="Poppins"/>
              </a:rPr>
              <a:t> and </a:t>
            </a:r>
            <a:r>
              <a:rPr lang="en-US" b="true" sz="3599">
                <a:solidFill>
                  <a:srgbClr val="145DA0"/>
                </a:solidFill>
                <a:latin typeface="Poppins Bold"/>
                <a:ea typeface="Poppins Bold"/>
                <a:cs typeface="Poppins Bold"/>
                <a:sym typeface="Poppins Bold"/>
              </a:rPr>
              <a:t>HALC </a:t>
            </a:r>
            <a:r>
              <a:rPr lang="en-US" sz="3599">
                <a:solidFill>
                  <a:srgbClr val="145DA0"/>
                </a:solidFill>
                <a:latin typeface="Poppins"/>
                <a:ea typeface="Poppins"/>
                <a:cs typeface="Poppins"/>
                <a:sym typeface="Poppins"/>
              </a:rPr>
              <a:t>at </a:t>
            </a:r>
            <a:r>
              <a:rPr lang="en-US" b="true" sz="3599">
                <a:solidFill>
                  <a:srgbClr val="145DA0"/>
                </a:solidFill>
                <a:latin typeface="Poppins Bold"/>
                <a:ea typeface="Poppins Bold"/>
                <a:cs typeface="Poppins Bold"/>
                <a:sym typeface="Poppins Bold"/>
              </a:rPr>
              <a:t>$30,000</a:t>
            </a:r>
          </a:p>
          <a:p>
            <a:pPr algn="ctr">
              <a:lnSpc>
                <a:spcPts val="50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47242" y="242294"/>
            <a:ext cx="17793515" cy="9802411"/>
            <a:chOff x="0" y="0"/>
            <a:chExt cx="4982580" cy="2744893"/>
          </a:xfrm>
        </p:grpSpPr>
        <p:sp>
          <p:nvSpPr>
            <p:cNvPr name="Freeform 3" id="3"/>
            <p:cNvSpPr/>
            <p:nvPr/>
          </p:nvSpPr>
          <p:spPr>
            <a:xfrm flipH="false" flipV="false" rot="0">
              <a:off x="0" y="0"/>
              <a:ext cx="4982580" cy="2744893"/>
            </a:xfrm>
            <a:custGeom>
              <a:avLst/>
              <a:gdLst/>
              <a:ahLst/>
              <a:cxnLst/>
              <a:rect r="r" b="b" t="t" l="l"/>
              <a:pathLst>
                <a:path h="2744893" w="4982580">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name="TextBox 4" id="4"/>
            <p:cNvSpPr txBox="true"/>
            <p:nvPr/>
          </p:nvSpPr>
          <p:spPr>
            <a:xfrm>
              <a:off x="0" y="-38100"/>
              <a:ext cx="4982580" cy="2782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855893" y="2661895"/>
            <a:ext cx="8288107" cy="4195854"/>
          </a:xfrm>
          <a:custGeom>
            <a:avLst/>
            <a:gdLst/>
            <a:ahLst/>
            <a:cxnLst/>
            <a:rect r="r" b="b" t="t" l="l"/>
            <a:pathLst>
              <a:path h="4195854" w="8288107">
                <a:moveTo>
                  <a:pt x="0" y="0"/>
                </a:moveTo>
                <a:lnTo>
                  <a:pt x="8288107" y="0"/>
                </a:lnTo>
                <a:lnTo>
                  <a:pt x="8288107" y="4195854"/>
                </a:lnTo>
                <a:lnTo>
                  <a:pt x="0" y="4195854"/>
                </a:lnTo>
                <a:lnTo>
                  <a:pt x="0" y="0"/>
                </a:lnTo>
                <a:close/>
              </a:path>
            </a:pathLst>
          </a:custGeom>
          <a:blipFill>
            <a:blip r:embed="rId3"/>
            <a:stretch>
              <a:fillRect l="0" t="0" r="0" b="0"/>
            </a:stretch>
          </a:blipFill>
        </p:spPr>
      </p:sp>
      <p:sp>
        <p:nvSpPr>
          <p:cNvPr name="Freeform 6" id="6"/>
          <p:cNvSpPr/>
          <p:nvPr/>
        </p:nvSpPr>
        <p:spPr>
          <a:xfrm flipH="false" flipV="false" rot="0">
            <a:off x="9565140" y="2751601"/>
            <a:ext cx="7992918" cy="4016441"/>
          </a:xfrm>
          <a:custGeom>
            <a:avLst/>
            <a:gdLst/>
            <a:ahLst/>
            <a:cxnLst/>
            <a:rect r="r" b="b" t="t" l="l"/>
            <a:pathLst>
              <a:path h="4016441" w="7992918">
                <a:moveTo>
                  <a:pt x="0" y="0"/>
                </a:moveTo>
                <a:lnTo>
                  <a:pt x="7992918" y="0"/>
                </a:lnTo>
                <a:lnTo>
                  <a:pt x="7992918" y="4016442"/>
                </a:lnTo>
                <a:lnTo>
                  <a:pt x="0" y="4016442"/>
                </a:lnTo>
                <a:lnTo>
                  <a:pt x="0" y="0"/>
                </a:lnTo>
                <a:close/>
              </a:path>
            </a:pathLst>
          </a:custGeom>
          <a:blipFill>
            <a:blip r:embed="rId4"/>
            <a:stretch>
              <a:fillRect l="0" t="0" r="0" b="0"/>
            </a:stretch>
          </a:blipFill>
        </p:spPr>
      </p:sp>
      <p:sp>
        <p:nvSpPr>
          <p:cNvPr name="TextBox 7" id="7"/>
          <p:cNvSpPr txBox="true"/>
          <p:nvPr/>
        </p:nvSpPr>
        <p:spPr>
          <a:xfrm rot="0">
            <a:off x="1703782" y="964078"/>
            <a:ext cx="14880436" cy="1787524"/>
          </a:xfrm>
          <a:prstGeom prst="rect">
            <a:avLst/>
          </a:prstGeom>
        </p:spPr>
        <p:txBody>
          <a:bodyPr anchor="t" rtlCol="false" tIns="0" lIns="0" bIns="0" rIns="0">
            <a:spAutoFit/>
          </a:bodyPr>
          <a:lstStyle/>
          <a:p>
            <a:pPr algn="ctr">
              <a:lnSpc>
                <a:spcPts val="7000"/>
              </a:lnSpc>
            </a:pPr>
            <a:r>
              <a:rPr lang="en-US" sz="5000" b="true">
                <a:solidFill>
                  <a:srgbClr val="00569E"/>
                </a:solidFill>
                <a:latin typeface="Poppins Bold"/>
                <a:ea typeface="Poppins Bold"/>
                <a:cs typeface="Poppins Bold"/>
                <a:sym typeface="Poppins Bold"/>
              </a:rPr>
              <a:t>Why We Chose Not to Drop More Outliers</a:t>
            </a:r>
          </a:p>
          <a:p>
            <a:pPr algn="ctr" marL="0" indent="0" lvl="0">
              <a:lnSpc>
                <a:spcPts val="7000"/>
              </a:lnSpc>
              <a:spcBef>
                <a:spcPct val="0"/>
              </a:spcBef>
            </a:pPr>
          </a:p>
        </p:txBody>
      </p:sp>
      <p:sp>
        <p:nvSpPr>
          <p:cNvPr name="TextBox 8" id="8"/>
          <p:cNvSpPr txBox="true"/>
          <p:nvPr/>
        </p:nvSpPr>
        <p:spPr>
          <a:xfrm rot="0">
            <a:off x="1205539" y="7351059"/>
            <a:ext cx="15876922" cy="199898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a:solidFill>
                  <a:srgbClr val="00569E"/>
                </a:solidFill>
                <a:latin typeface="Poppins"/>
                <a:ea typeface="Poppins"/>
                <a:cs typeface="Poppins"/>
                <a:sym typeface="Poppins"/>
              </a:rPr>
              <a:t>Statistical Reason: Removing or transf</a:t>
            </a:r>
            <a:r>
              <a:rPr lang="en-US" sz="2299">
                <a:solidFill>
                  <a:srgbClr val="00569E"/>
                </a:solidFill>
                <a:latin typeface="Poppins"/>
                <a:ea typeface="Poppins"/>
                <a:cs typeface="Poppins"/>
                <a:sym typeface="Poppins"/>
              </a:rPr>
              <a:t>orming these features would risk losing valuable predictive signals.</a:t>
            </a:r>
          </a:p>
          <a:p>
            <a:pPr algn="l">
              <a:lnSpc>
                <a:spcPts val="3219"/>
              </a:lnSpc>
              <a:spcBef>
                <a:spcPct val="0"/>
              </a:spcBef>
            </a:pPr>
          </a:p>
          <a:p>
            <a:pPr algn="l" marL="496567" indent="-248284" lvl="1">
              <a:lnSpc>
                <a:spcPts val="3219"/>
              </a:lnSpc>
              <a:spcBef>
                <a:spcPct val="0"/>
              </a:spcBef>
              <a:buFont typeface="Arial"/>
              <a:buChar char="•"/>
            </a:pPr>
            <a:r>
              <a:rPr lang="en-US" sz="2299">
                <a:solidFill>
                  <a:srgbClr val="00569E"/>
                </a:solidFill>
                <a:latin typeface="Poppins"/>
                <a:ea typeface="Poppins"/>
                <a:cs typeface="Poppins"/>
                <a:sym typeface="Poppins"/>
              </a:rPr>
              <a:t>Business Insight: In insurance, a small number of policyholders generate the majority of claims — this skewed pattern is core to pricing and risk assessment, not noise to discard.</a:t>
            </a:r>
          </a:p>
          <a:p>
            <a:pPr algn="l">
              <a:lnSpc>
                <a:spcPts val="32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0" y="4848542"/>
            <a:ext cx="18288000" cy="3898900"/>
          </a:xfrm>
          <a:prstGeom prst="rect">
            <a:avLst/>
          </a:prstGeom>
        </p:spPr>
        <p:txBody>
          <a:bodyPr anchor="t" rtlCol="false" tIns="0" lIns="0" bIns="0" rIns="0">
            <a:spAutoFit/>
          </a:bodyPr>
          <a:lstStyle/>
          <a:p>
            <a:pPr algn="ctr">
              <a:lnSpc>
                <a:spcPts val="7699"/>
              </a:lnSpc>
              <a:spcBef>
                <a:spcPct val="0"/>
              </a:spcBef>
            </a:pPr>
            <a:r>
              <a:rPr lang="en-US" sz="5499" spc="-109">
                <a:solidFill>
                  <a:srgbClr val="000000"/>
                </a:solidFill>
                <a:latin typeface="Poppins"/>
                <a:ea typeface="Poppins"/>
                <a:cs typeface="Poppins"/>
                <a:sym typeface="Poppins"/>
              </a:rPr>
              <a:t>"Okay. Now the fun part. </a:t>
            </a:r>
            <a:r>
              <a:rPr lang="en-US" sz="5499" spc="-109">
                <a:solidFill>
                  <a:srgbClr val="000000"/>
                </a:solidFill>
                <a:latin typeface="Poppins"/>
                <a:ea typeface="Poppins"/>
                <a:cs typeface="Poppins"/>
                <a:sym typeface="Poppins"/>
              </a:rPr>
              <a:t>You've got messy insurance data and a bunch of zeros. Let me guess — you just threw XGBoost at it and hoped for the best?"</a:t>
            </a:r>
          </a:p>
          <a:p>
            <a:pPr algn="ctr">
              <a:lnSpc>
                <a:spcPts val="76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5" id="5"/>
          <p:cNvGraphicFramePr>
            <a:graphicFrameLocks noGrp="true"/>
          </p:cNvGraphicFramePr>
          <p:nvPr/>
        </p:nvGraphicFramePr>
        <p:xfrm>
          <a:off x="7996189" y="2475206"/>
          <a:ext cx="9785057" cy="7475432"/>
        </p:xfrm>
        <a:graphic>
          <a:graphicData uri="http://schemas.openxmlformats.org/drawingml/2006/table">
            <a:tbl>
              <a:tblPr/>
              <a:tblGrid>
                <a:gridCol w="1957011"/>
                <a:gridCol w="1957011"/>
                <a:gridCol w="1957011"/>
                <a:gridCol w="1957011"/>
                <a:gridCol w="1957011"/>
              </a:tblGrid>
              <a:tr h="1235020">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Regression</a:t>
                      </a:r>
                      <a:endParaRPr lang="en-US" sz="1100"/>
                    </a:p>
                    <a:p>
                      <a:pPr algn="ctr">
                        <a:lnSpc>
                          <a:spcPts val="2659"/>
                        </a:lnSpc>
                      </a:pPr>
                      <a:r>
                        <a:rPr lang="en-US" sz="1899" b="true">
                          <a:solidFill>
                            <a:srgbClr val="145DA0"/>
                          </a:solidFill>
                          <a:latin typeface="Poppins Bold"/>
                          <a:ea typeface="Poppins Bold"/>
                          <a:cs typeface="Poppins Bold"/>
                          <a:sym typeface="Poppins Bold"/>
                        </a:rPr>
                        <a:t>Model</a:t>
                      </a:r>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LC MSE</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LC RMSE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HALC MSE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HALC RMSE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r>
              <a:tr h="1235020">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Tweedie</a:t>
                      </a:r>
                      <a:endParaRPr lang="en-US" sz="1100"/>
                    </a:p>
                    <a:p>
                      <a:pPr algn="ctr">
                        <a:lnSpc>
                          <a:spcPts val="2659"/>
                        </a:lnSpc>
                      </a:pPr>
                      <a:r>
                        <a:rPr lang="en-US" sz="1899" b="true">
                          <a:solidFill>
                            <a:srgbClr val="145DA0"/>
                          </a:solidFill>
                          <a:latin typeface="Poppins Bold"/>
                          <a:ea typeface="Poppins Bold"/>
                          <a:cs typeface="Poppins Bold"/>
                          <a:sym typeface="Poppins Bold"/>
                        </a:rPr>
                        <a:t>GLM</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197155.60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444.02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682975.21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826.42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1348">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Neural</a:t>
                      </a:r>
                      <a:endParaRPr lang="en-US" sz="1100"/>
                    </a:p>
                    <a:p>
                      <a:pPr algn="ctr">
                        <a:lnSpc>
                          <a:spcPts val="2659"/>
                        </a:lnSpc>
                      </a:pPr>
                      <a:r>
                        <a:rPr lang="en-US" sz="1899" b="true">
                          <a:solidFill>
                            <a:srgbClr val="145DA0"/>
                          </a:solidFill>
                          <a:latin typeface="Poppins Bold"/>
                          <a:ea typeface="Poppins Bold"/>
                          <a:cs typeface="Poppins Bold"/>
                          <a:sym typeface="Poppins Bold"/>
                        </a:rPr>
                        <a:t>Network</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196525.88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443.31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681166.44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825.33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1348">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Light GBM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198675.23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445.73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689198.83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830.18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1348">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XGBoost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198007.20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444.98</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687738.49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829.30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1348">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Weighted</a:t>
                      </a:r>
                      <a:endParaRPr lang="en-US" sz="1100"/>
                    </a:p>
                    <a:p>
                      <a:pPr algn="ctr">
                        <a:lnSpc>
                          <a:spcPts val="2659"/>
                        </a:lnSpc>
                      </a:pPr>
                      <a:r>
                        <a:rPr lang="en-US" sz="1899" b="true">
                          <a:solidFill>
                            <a:srgbClr val="145DA0"/>
                          </a:solidFill>
                          <a:latin typeface="Poppins Bold"/>
                          <a:ea typeface="Poppins Bold"/>
                          <a:cs typeface="Poppins Bold"/>
                          <a:sym typeface="Poppins Bold"/>
                        </a:rPr>
                        <a:t>Ensemble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195098.89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441.70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679668.336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824.42</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6" id="6"/>
          <p:cNvSpPr txBox="true"/>
          <p:nvPr/>
        </p:nvSpPr>
        <p:spPr>
          <a:xfrm rot="0">
            <a:off x="3743786" y="258321"/>
            <a:ext cx="11273843" cy="1832401"/>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Poppins Bold"/>
                <a:ea typeface="Poppins Bold"/>
                <a:cs typeface="Poppins Bold"/>
                <a:sym typeface="Poppins Bold"/>
              </a:rPr>
              <a:t>Model Comparison and Evaluation Strategy</a:t>
            </a:r>
          </a:p>
        </p:txBody>
      </p:sp>
      <p:sp>
        <p:nvSpPr>
          <p:cNvPr name="TextBox 7" id="7"/>
          <p:cNvSpPr txBox="true"/>
          <p:nvPr/>
        </p:nvSpPr>
        <p:spPr>
          <a:xfrm rot="0">
            <a:off x="222636" y="2583973"/>
            <a:ext cx="7652138" cy="7000723"/>
          </a:xfrm>
          <a:prstGeom prst="rect">
            <a:avLst/>
          </a:prstGeom>
        </p:spPr>
        <p:txBody>
          <a:bodyPr anchor="t" rtlCol="false" tIns="0" lIns="0" bIns="0" rIns="0">
            <a:spAutoFit/>
          </a:bodyPr>
          <a:lstStyle/>
          <a:p>
            <a:pPr algn="l" marL="568026" indent="-284013" lvl="1">
              <a:lnSpc>
                <a:spcPts val="3683"/>
              </a:lnSpc>
              <a:buFont typeface="Arial"/>
              <a:buChar char="•"/>
            </a:pPr>
            <a:r>
              <a:rPr lang="en-US" sz="2630" spc="-52">
                <a:solidFill>
                  <a:srgbClr val="FFFFFF"/>
                </a:solidFill>
                <a:latin typeface="Poppins"/>
                <a:ea typeface="Poppins"/>
                <a:cs typeface="Poppins"/>
                <a:sym typeface="Poppins"/>
              </a:rPr>
              <a:t>Variable Selection:  L1 Regularization &amp; Shap</a:t>
            </a:r>
          </a:p>
          <a:p>
            <a:pPr algn="l" marL="1136053" indent="-378684" lvl="2">
              <a:lnSpc>
                <a:spcPts val="3683"/>
              </a:lnSpc>
              <a:buFont typeface="Arial"/>
              <a:buChar char="⚬"/>
            </a:pPr>
            <a:r>
              <a:rPr lang="en-US" sz="2630" spc="-52">
                <a:solidFill>
                  <a:srgbClr val="FFFFFF"/>
                </a:solidFill>
                <a:latin typeface="Poppins"/>
                <a:ea typeface="Poppins"/>
                <a:cs typeface="Poppins"/>
                <a:sym typeface="Poppins"/>
              </a:rPr>
              <a:t>Behavioral &amp; Loyalty Indicators：</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Cancellations </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Payment pattern</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Policy duration</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License age</a:t>
            </a:r>
          </a:p>
          <a:p>
            <a:pPr algn="l" marL="1136053" indent="-378684" lvl="2">
              <a:lnSpc>
                <a:spcPts val="3683"/>
              </a:lnSpc>
              <a:buFont typeface="Arial"/>
              <a:buChar char="⚬"/>
            </a:pPr>
            <a:r>
              <a:rPr lang="en-US" sz="2630" spc="-52">
                <a:solidFill>
                  <a:srgbClr val="FFFFFF"/>
                </a:solidFill>
                <a:latin typeface="Poppins"/>
                <a:ea typeface="Poppins"/>
                <a:cs typeface="Poppins"/>
                <a:sym typeface="Poppins"/>
              </a:rPr>
              <a:t>Vehicle-Related Risk Factors:</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Power, CC, Weight</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New vs old cars</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Type of car (1-hot)</a:t>
            </a:r>
          </a:p>
          <a:p>
            <a:pPr algn="l" marL="1136053" indent="-378684" lvl="2">
              <a:lnSpc>
                <a:spcPts val="3683"/>
              </a:lnSpc>
              <a:buFont typeface="Arial"/>
              <a:buChar char="⚬"/>
            </a:pPr>
            <a:r>
              <a:rPr lang="en-US" sz="2630" spc="-52">
                <a:solidFill>
                  <a:srgbClr val="FFFFFF"/>
                </a:solidFill>
                <a:latin typeface="Poppins"/>
                <a:ea typeface="Poppins"/>
                <a:cs typeface="Poppins"/>
                <a:sym typeface="Poppins"/>
              </a:rPr>
              <a:t>Pricing / Policy Exposure</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Premium paid</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Max policies held</a:t>
            </a:r>
          </a:p>
          <a:p>
            <a:pPr algn="l" marL="1704079" indent="-426020" lvl="3">
              <a:lnSpc>
                <a:spcPts val="3683"/>
              </a:lnSpc>
              <a:buFont typeface="Arial"/>
              <a:buChar char="￭"/>
            </a:pPr>
            <a:r>
              <a:rPr lang="en-US" sz="2630" spc="-52">
                <a:solidFill>
                  <a:srgbClr val="FFFFFF"/>
                </a:solidFill>
                <a:latin typeface="Poppins"/>
                <a:ea typeface="Poppins"/>
                <a:cs typeface="Poppins"/>
                <a:sym typeface="Poppins"/>
              </a:rPr>
              <a:t>Urban vs rural</a:t>
            </a:r>
          </a:p>
          <a:p>
            <a:pPr algn="l" marL="568026" indent="-284013" lvl="1">
              <a:lnSpc>
                <a:spcPts val="3683"/>
              </a:lnSpc>
              <a:spcBef>
                <a:spcPct val="0"/>
              </a:spcBef>
              <a:buFont typeface="Arial"/>
              <a:buChar char="•"/>
            </a:pPr>
            <a:r>
              <a:rPr lang="en-US" sz="2630" spc="-52">
                <a:solidFill>
                  <a:srgbClr val="FFFFFF"/>
                </a:solidFill>
                <a:latin typeface="Poppins"/>
                <a:ea typeface="Poppins"/>
                <a:cs typeface="Poppins"/>
                <a:sym typeface="Poppins"/>
              </a:rPr>
              <a:t>Tune hyperparameters: K-fold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76217" cy="1459818"/>
            <a:chOff x="0" y="0"/>
            <a:chExt cx="4866164" cy="384479"/>
          </a:xfrm>
        </p:grpSpPr>
        <p:sp>
          <p:nvSpPr>
            <p:cNvPr name="Freeform 3" id="3"/>
            <p:cNvSpPr/>
            <p:nvPr/>
          </p:nvSpPr>
          <p:spPr>
            <a:xfrm flipH="false" flipV="false" rot="0">
              <a:off x="0" y="0"/>
              <a:ext cx="4866164" cy="384479"/>
            </a:xfrm>
            <a:custGeom>
              <a:avLst/>
              <a:gdLst/>
              <a:ahLst/>
              <a:cxnLst/>
              <a:rect r="r" b="b" t="t" l="l"/>
              <a:pathLst>
                <a:path h="384479" w="4866164">
                  <a:moveTo>
                    <a:pt x="0" y="0"/>
                  </a:moveTo>
                  <a:lnTo>
                    <a:pt x="4866164" y="0"/>
                  </a:lnTo>
                  <a:lnTo>
                    <a:pt x="4866164" y="384479"/>
                  </a:lnTo>
                  <a:lnTo>
                    <a:pt x="0" y="384479"/>
                  </a:ln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sq">
              <a:noFill/>
              <a:prstDash val="solid"/>
              <a:miter/>
            </a:ln>
          </p:spPr>
        </p:sp>
        <p:sp>
          <p:nvSpPr>
            <p:cNvPr name="TextBox 4" id="4"/>
            <p:cNvSpPr txBox="true"/>
            <p:nvPr/>
          </p:nvSpPr>
          <p:spPr>
            <a:xfrm>
              <a:off x="0" y="-57150"/>
              <a:ext cx="4866164" cy="4416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4993863" y="254960"/>
            <a:ext cx="9591648" cy="819148"/>
          </a:xfrm>
          <a:prstGeom prst="rect">
            <a:avLst/>
          </a:prstGeom>
        </p:spPr>
        <p:txBody>
          <a:bodyPr anchor="t" rtlCol="false" tIns="0" lIns="0" bIns="0" rIns="0">
            <a:spAutoFit/>
          </a:bodyPr>
          <a:lstStyle/>
          <a:p>
            <a:pPr algn="ctr">
              <a:lnSpc>
                <a:spcPts val="6300"/>
              </a:lnSpc>
              <a:spcBef>
                <a:spcPct val="0"/>
              </a:spcBef>
            </a:pPr>
            <a:r>
              <a:rPr lang="en-US" b="true" sz="4500">
                <a:solidFill>
                  <a:srgbClr val="FFFFFF"/>
                </a:solidFill>
                <a:latin typeface="Poppins Bold"/>
                <a:ea typeface="Poppins Bold"/>
                <a:cs typeface="Poppins Bold"/>
                <a:sym typeface="Poppins Bold"/>
              </a:rPr>
              <a:t>Model Ensembling</a:t>
            </a:r>
          </a:p>
        </p:txBody>
      </p:sp>
      <p:grpSp>
        <p:nvGrpSpPr>
          <p:cNvPr name="Group 6" id="6"/>
          <p:cNvGrpSpPr/>
          <p:nvPr/>
        </p:nvGrpSpPr>
        <p:grpSpPr>
          <a:xfrm rot="0">
            <a:off x="10585964" y="2298664"/>
            <a:ext cx="6203237" cy="6669646"/>
            <a:chOff x="0" y="0"/>
            <a:chExt cx="8270982" cy="8892862"/>
          </a:xfrm>
        </p:grpSpPr>
        <p:grpSp>
          <p:nvGrpSpPr>
            <p:cNvPr name="Group 7" id="7"/>
            <p:cNvGrpSpPr/>
            <p:nvPr/>
          </p:nvGrpSpPr>
          <p:grpSpPr>
            <a:xfrm rot="0">
              <a:off x="0" y="0"/>
              <a:ext cx="8270982" cy="8892862"/>
              <a:chOff x="0" y="0"/>
              <a:chExt cx="1633774" cy="1756615"/>
            </a:xfrm>
          </p:grpSpPr>
          <p:sp>
            <p:nvSpPr>
              <p:cNvPr name="Freeform 8" id="8"/>
              <p:cNvSpPr/>
              <p:nvPr/>
            </p:nvSpPr>
            <p:spPr>
              <a:xfrm flipH="false" flipV="false" rot="0">
                <a:off x="0" y="0"/>
                <a:ext cx="1633774" cy="1756615"/>
              </a:xfrm>
              <a:custGeom>
                <a:avLst/>
                <a:gdLst/>
                <a:ahLst/>
                <a:cxnLst/>
                <a:rect r="r" b="b" t="t" l="l"/>
                <a:pathLst>
                  <a:path h="1756615" w="1633774">
                    <a:moveTo>
                      <a:pt x="63650" y="0"/>
                    </a:moveTo>
                    <a:lnTo>
                      <a:pt x="1570124" y="0"/>
                    </a:lnTo>
                    <a:cubicBezTo>
                      <a:pt x="1587005" y="0"/>
                      <a:pt x="1603195" y="6706"/>
                      <a:pt x="1615132" y="18643"/>
                    </a:cubicBezTo>
                    <a:cubicBezTo>
                      <a:pt x="1627068" y="30579"/>
                      <a:pt x="1633774" y="46769"/>
                      <a:pt x="1633774" y="63650"/>
                    </a:cubicBezTo>
                    <a:lnTo>
                      <a:pt x="1633774" y="1692964"/>
                    </a:lnTo>
                    <a:cubicBezTo>
                      <a:pt x="1633774" y="1728117"/>
                      <a:pt x="1605277" y="1756615"/>
                      <a:pt x="1570124" y="1756615"/>
                    </a:cubicBezTo>
                    <a:lnTo>
                      <a:pt x="63650" y="1756615"/>
                    </a:lnTo>
                    <a:cubicBezTo>
                      <a:pt x="46769" y="1756615"/>
                      <a:pt x="30579" y="1749909"/>
                      <a:pt x="18643" y="1737972"/>
                    </a:cubicBezTo>
                    <a:cubicBezTo>
                      <a:pt x="6706" y="1726035"/>
                      <a:pt x="0" y="1709845"/>
                      <a:pt x="0" y="1692964"/>
                    </a:cubicBezTo>
                    <a:lnTo>
                      <a:pt x="0" y="63650"/>
                    </a:lnTo>
                    <a:cubicBezTo>
                      <a:pt x="0" y="46769"/>
                      <a:pt x="6706" y="30579"/>
                      <a:pt x="18643" y="18643"/>
                    </a:cubicBezTo>
                    <a:cubicBezTo>
                      <a:pt x="30579" y="6706"/>
                      <a:pt x="46769" y="0"/>
                      <a:pt x="63650" y="0"/>
                    </a:cubicBezTo>
                    <a:close/>
                  </a:path>
                </a:pathLst>
              </a:custGeom>
              <a:solidFill>
                <a:srgbClr val="F0F0F0"/>
              </a:solidFill>
            </p:spPr>
          </p:sp>
          <p:sp>
            <p:nvSpPr>
              <p:cNvPr name="TextBox 9" id="9"/>
              <p:cNvSpPr txBox="true"/>
              <p:nvPr/>
            </p:nvSpPr>
            <p:spPr>
              <a:xfrm>
                <a:off x="0" y="-38100"/>
                <a:ext cx="1633774" cy="179471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747979" y="2418876"/>
              <a:ext cx="6733643" cy="5222452"/>
            </a:xfrm>
            <a:prstGeom prst="rect">
              <a:avLst/>
            </a:prstGeom>
          </p:spPr>
          <p:txBody>
            <a:bodyPr anchor="t" rtlCol="false" tIns="0" lIns="0" bIns="0" rIns="0">
              <a:spAutoFit/>
            </a:bodyPr>
            <a:lstStyle/>
            <a:p>
              <a:pPr algn="ctr">
                <a:lnSpc>
                  <a:spcPts val="4480"/>
                </a:lnSpc>
                <a:spcBef>
                  <a:spcPct val="0"/>
                </a:spcBef>
              </a:pPr>
              <a:r>
                <a:rPr lang="en-US" b="true" sz="3200" spc="-64">
                  <a:solidFill>
                    <a:srgbClr val="242424"/>
                  </a:solidFill>
                  <a:latin typeface="Poppins Bold"/>
                  <a:ea typeface="Poppins Bold"/>
                  <a:cs typeface="Poppins Bold"/>
                  <a:sym typeface="Poppins Bold"/>
                </a:rPr>
                <a:t>5</a:t>
              </a:r>
              <a:r>
                <a:rPr lang="en-US" b="true" sz="3200" spc="-64">
                  <a:solidFill>
                    <a:srgbClr val="242424"/>
                  </a:solidFill>
                  <a:latin typeface="Poppins Bold"/>
                  <a:ea typeface="Poppins Bold"/>
                  <a:cs typeface="Poppins Bold"/>
                  <a:sym typeface="Poppins Bold"/>
                </a:rPr>
                <a:t>0% × Tweedie GLM</a:t>
              </a:r>
            </a:p>
            <a:p>
              <a:pPr algn="ctr">
                <a:lnSpc>
                  <a:spcPts val="4480"/>
                </a:lnSpc>
                <a:spcBef>
                  <a:spcPct val="0"/>
                </a:spcBef>
              </a:pPr>
              <a:r>
                <a:rPr lang="en-US" sz="3200" spc="-64">
                  <a:solidFill>
                    <a:srgbClr val="242424"/>
                  </a:solidFill>
                  <a:latin typeface="Poppins"/>
                  <a:ea typeface="Poppins"/>
                  <a:cs typeface="Poppins"/>
                  <a:sym typeface="Poppins"/>
                </a:rPr>
                <a:t> + </a:t>
              </a:r>
            </a:p>
            <a:p>
              <a:pPr algn="ctr">
                <a:lnSpc>
                  <a:spcPts val="4480"/>
                </a:lnSpc>
                <a:spcBef>
                  <a:spcPct val="0"/>
                </a:spcBef>
              </a:pPr>
              <a:r>
                <a:rPr lang="en-US" b="true" sz="3200" spc="-64">
                  <a:solidFill>
                    <a:srgbClr val="242424"/>
                  </a:solidFill>
                  <a:latin typeface="Poppins Bold"/>
                  <a:ea typeface="Poppins Bold"/>
                  <a:cs typeface="Poppins Bold"/>
                  <a:sym typeface="Poppins Bold"/>
                </a:rPr>
                <a:t>30% × Neural Network</a:t>
              </a:r>
            </a:p>
            <a:p>
              <a:pPr algn="ctr">
                <a:lnSpc>
                  <a:spcPts val="4480"/>
                </a:lnSpc>
                <a:spcBef>
                  <a:spcPct val="0"/>
                </a:spcBef>
              </a:pPr>
              <a:r>
                <a:rPr lang="en-US" sz="3200" spc="-64">
                  <a:solidFill>
                    <a:srgbClr val="242424"/>
                  </a:solidFill>
                  <a:latin typeface="Poppins"/>
                  <a:ea typeface="Poppins"/>
                  <a:cs typeface="Poppins"/>
                  <a:sym typeface="Poppins"/>
                </a:rPr>
                <a:t> + </a:t>
              </a:r>
            </a:p>
            <a:p>
              <a:pPr algn="ctr">
                <a:lnSpc>
                  <a:spcPts val="4480"/>
                </a:lnSpc>
                <a:spcBef>
                  <a:spcPct val="0"/>
                </a:spcBef>
              </a:pPr>
              <a:r>
                <a:rPr lang="en-US" b="true" sz="3200" spc="-64">
                  <a:solidFill>
                    <a:srgbClr val="242424"/>
                  </a:solidFill>
                  <a:latin typeface="Poppins Bold"/>
                  <a:ea typeface="Poppins Bold"/>
                  <a:cs typeface="Poppins Bold"/>
                  <a:sym typeface="Poppins Bold"/>
                </a:rPr>
                <a:t>20% × XGBoost</a:t>
              </a:r>
            </a:p>
            <a:p>
              <a:pPr algn="ctr">
                <a:lnSpc>
                  <a:spcPts val="4480"/>
                </a:lnSpc>
                <a:spcBef>
                  <a:spcPct val="0"/>
                </a:spcBef>
              </a:pPr>
              <a:r>
                <a:rPr lang="en-US" sz="3200" spc="-64">
                  <a:solidFill>
                    <a:srgbClr val="242424"/>
                  </a:solidFill>
                  <a:latin typeface="Poppins"/>
                  <a:ea typeface="Poppins"/>
                  <a:cs typeface="Poppins"/>
                  <a:sym typeface="Poppins"/>
                </a:rPr>
                <a:t> + </a:t>
              </a:r>
            </a:p>
            <a:p>
              <a:pPr algn="ctr">
                <a:lnSpc>
                  <a:spcPts val="4480"/>
                </a:lnSpc>
                <a:spcBef>
                  <a:spcPct val="0"/>
                </a:spcBef>
              </a:pPr>
              <a:r>
                <a:rPr lang="en-US" b="true" sz="3200" spc="-64">
                  <a:solidFill>
                    <a:srgbClr val="242424"/>
                  </a:solidFill>
                  <a:latin typeface="Poppins Bold"/>
                  <a:ea typeface="Poppins Bold"/>
                  <a:cs typeface="Poppins Bold"/>
                  <a:sym typeface="Poppins Bold"/>
                </a:rPr>
                <a:t>0% × Light GBM</a:t>
              </a:r>
            </a:p>
          </p:txBody>
        </p:sp>
        <p:sp>
          <p:nvSpPr>
            <p:cNvPr name="TextBox 11" id="11"/>
            <p:cNvSpPr txBox="true"/>
            <p:nvPr/>
          </p:nvSpPr>
          <p:spPr>
            <a:xfrm rot="0">
              <a:off x="1217371" y="541161"/>
              <a:ext cx="6733643" cy="918634"/>
            </a:xfrm>
            <a:prstGeom prst="rect">
              <a:avLst/>
            </a:prstGeom>
          </p:spPr>
          <p:txBody>
            <a:bodyPr anchor="t" rtlCol="false" tIns="0" lIns="0" bIns="0" rIns="0">
              <a:spAutoFit/>
            </a:bodyPr>
            <a:lstStyle/>
            <a:p>
              <a:pPr algn="ctr">
                <a:lnSpc>
                  <a:spcPts val="5599"/>
                </a:lnSpc>
                <a:spcBef>
                  <a:spcPct val="0"/>
                </a:spcBef>
              </a:pPr>
              <a:r>
                <a:rPr lang="en-US" b="true" sz="3999" spc="-79">
                  <a:solidFill>
                    <a:srgbClr val="00569E"/>
                  </a:solidFill>
                  <a:latin typeface="Poppins Bold"/>
                  <a:ea typeface="Poppins Bold"/>
                  <a:cs typeface="Poppins Bold"/>
                  <a:sym typeface="Poppins Bold"/>
                </a:rPr>
                <a:t>Final Prediction</a:t>
              </a:r>
            </a:p>
          </p:txBody>
        </p:sp>
        <p:sp>
          <p:nvSpPr>
            <p:cNvPr name="Freeform 12" id="12"/>
            <p:cNvSpPr/>
            <p:nvPr/>
          </p:nvSpPr>
          <p:spPr>
            <a:xfrm flipH="false" flipV="false" rot="0">
              <a:off x="747979" y="460022"/>
              <a:ext cx="938784" cy="1195211"/>
            </a:xfrm>
            <a:custGeom>
              <a:avLst/>
              <a:gdLst/>
              <a:ahLst/>
              <a:cxnLst/>
              <a:rect r="r" b="b" t="t" l="l"/>
              <a:pathLst>
                <a:path h="1195211" w="938784">
                  <a:moveTo>
                    <a:pt x="0" y="0"/>
                  </a:moveTo>
                  <a:lnTo>
                    <a:pt x="938783" y="0"/>
                  </a:lnTo>
                  <a:lnTo>
                    <a:pt x="938783" y="1195211"/>
                  </a:lnTo>
                  <a:lnTo>
                    <a:pt x="0" y="1195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3" id="13"/>
          <p:cNvGrpSpPr/>
          <p:nvPr/>
        </p:nvGrpSpPr>
        <p:grpSpPr>
          <a:xfrm rot="0">
            <a:off x="1215824" y="1940168"/>
            <a:ext cx="8573863" cy="2806068"/>
            <a:chOff x="0" y="0"/>
            <a:chExt cx="2258137" cy="739047"/>
          </a:xfrm>
        </p:grpSpPr>
        <p:sp>
          <p:nvSpPr>
            <p:cNvPr name="Freeform 14" id="14"/>
            <p:cNvSpPr/>
            <p:nvPr/>
          </p:nvSpPr>
          <p:spPr>
            <a:xfrm flipH="false" flipV="false" rot="0">
              <a:off x="0" y="0"/>
              <a:ext cx="2258137" cy="739047"/>
            </a:xfrm>
            <a:custGeom>
              <a:avLst/>
              <a:gdLst/>
              <a:ahLst/>
              <a:cxnLst/>
              <a:rect r="r" b="b" t="t" l="l"/>
              <a:pathLst>
                <a:path h="739047" w="2258137">
                  <a:moveTo>
                    <a:pt x="46051" y="0"/>
                  </a:moveTo>
                  <a:lnTo>
                    <a:pt x="2212086" y="0"/>
                  </a:lnTo>
                  <a:cubicBezTo>
                    <a:pt x="2237519" y="0"/>
                    <a:pt x="2258137" y="20618"/>
                    <a:pt x="2258137" y="46051"/>
                  </a:cubicBezTo>
                  <a:lnTo>
                    <a:pt x="2258137" y="692995"/>
                  </a:lnTo>
                  <a:cubicBezTo>
                    <a:pt x="2258137" y="705209"/>
                    <a:pt x="2253285" y="716922"/>
                    <a:pt x="2244649" y="725559"/>
                  </a:cubicBezTo>
                  <a:cubicBezTo>
                    <a:pt x="2236012" y="734195"/>
                    <a:pt x="2224299" y="739047"/>
                    <a:pt x="2212086" y="739047"/>
                  </a:cubicBezTo>
                  <a:lnTo>
                    <a:pt x="46051" y="739047"/>
                  </a:lnTo>
                  <a:cubicBezTo>
                    <a:pt x="20618" y="739047"/>
                    <a:pt x="0" y="718429"/>
                    <a:pt x="0" y="692995"/>
                  </a:cubicBezTo>
                  <a:lnTo>
                    <a:pt x="0" y="46051"/>
                  </a:lnTo>
                  <a:cubicBezTo>
                    <a:pt x="0" y="20618"/>
                    <a:pt x="20618" y="0"/>
                    <a:pt x="46051" y="0"/>
                  </a:cubicBezTo>
                  <a:close/>
                </a:path>
              </a:pathLst>
            </a:custGeom>
            <a:solidFill>
              <a:srgbClr val="F0F0F0"/>
            </a:solidFill>
          </p:spPr>
        </p:sp>
        <p:sp>
          <p:nvSpPr>
            <p:cNvPr name="TextBox 15" id="15"/>
            <p:cNvSpPr txBox="true"/>
            <p:nvPr/>
          </p:nvSpPr>
          <p:spPr>
            <a:xfrm>
              <a:off x="0" y="-57150"/>
              <a:ext cx="2258137" cy="79619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588237" y="3465634"/>
            <a:ext cx="7496538" cy="888999"/>
          </a:xfrm>
          <a:prstGeom prst="rect">
            <a:avLst/>
          </a:prstGeom>
        </p:spPr>
        <p:txBody>
          <a:bodyPr anchor="t" rtlCol="false" tIns="0" lIns="0" bIns="0" rIns="0">
            <a:spAutoFit/>
          </a:bodyPr>
          <a:lstStyle/>
          <a:p>
            <a:pPr algn="l" marL="539754" indent="-269877" lvl="1">
              <a:lnSpc>
                <a:spcPts val="3500"/>
              </a:lnSpc>
              <a:spcBef>
                <a:spcPct val="0"/>
              </a:spcBef>
              <a:buFont typeface="Arial"/>
              <a:buChar char="•"/>
            </a:pPr>
            <a:r>
              <a:rPr lang="en-US" sz="2500" spc="-50">
                <a:solidFill>
                  <a:srgbClr val="242424"/>
                </a:solidFill>
                <a:latin typeface="Poppins"/>
                <a:ea typeface="Poppins"/>
                <a:cs typeface="Poppins"/>
                <a:sym typeface="Poppins"/>
              </a:rPr>
              <a:t>Each</a:t>
            </a:r>
            <a:r>
              <a:rPr lang="en-US" sz="2500" spc="-50">
                <a:solidFill>
                  <a:srgbClr val="242424"/>
                </a:solidFill>
                <a:latin typeface="Poppins"/>
                <a:ea typeface="Poppins"/>
                <a:cs typeface="Poppins"/>
                <a:sym typeface="Poppins"/>
              </a:rPr>
              <a:t> model has own strength &amp; weakness</a:t>
            </a:r>
          </a:p>
          <a:p>
            <a:pPr algn="l" marL="539754" indent="-269877" lvl="1">
              <a:lnSpc>
                <a:spcPts val="3500"/>
              </a:lnSpc>
              <a:spcBef>
                <a:spcPct val="0"/>
              </a:spcBef>
              <a:buFont typeface="Arial"/>
              <a:buChar char="•"/>
            </a:pPr>
            <a:r>
              <a:rPr lang="en-US" sz="2500" spc="-50">
                <a:solidFill>
                  <a:srgbClr val="242424"/>
                </a:solidFill>
                <a:latin typeface="Poppins"/>
                <a:ea typeface="Poppins"/>
                <a:cs typeface="Poppins"/>
                <a:sym typeface="Poppins"/>
              </a:rPr>
              <a:t>Reduces overfitting and improves robustness</a:t>
            </a:r>
          </a:p>
        </p:txBody>
      </p:sp>
      <p:sp>
        <p:nvSpPr>
          <p:cNvPr name="TextBox 17" id="17"/>
          <p:cNvSpPr txBox="true"/>
          <p:nvPr/>
        </p:nvSpPr>
        <p:spPr>
          <a:xfrm rot="0">
            <a:off x="2701850" y="2332551"/>
            <a:ext cx="5050232" cy="717550"/>
          </a:xfrm>
          <a:prstGeom prst="rect">
            <a:avLst/>
          </a:prstGeom>
        </p:spPr>
        <p:txBody>
          <a:bodyPr anchor="t" rtlCol="false" tIns="0" lIns="0" bIns="0" rIns="0">
            <a:spAutoFit/>
          </a:bodyPr>
          <a:lstStyle/>
          <a:p>
            <a:pPr algn="ctr">
              <a:lnSpc>
                <a:spcPts val="5599"/>
              </a:lnSpc>
              <a:spcBef>
                <a:spcPct val="0"/>
              </a:spcBef>
            </a:pPr>
            <a:r>
              <a:rPr lang="en-US" b="true" sz="3999" spc="-79">
                <a:solidFill>
                  <a:srgbClr val="00569E"/>
                </a:solidFill>
                <a:latin typeface="Poppins Bold"/>
                <a:ea typeface="Poppins Bold"/>
                <a:cs typeface="Poppins Bold"/>
                <a:sym typeface="Poppins Bold"/>
              </a:rPr>
              <a:t>Why Ensembling?</a:t>
            </a:r>
          </a:p>
        </p:txBody>
      </p:sp>
      <p:sp>
        <p:nvSpPr>
          <p:cNvPr name="Freeform 18" id="18"/>
          <p:cNvSpPr/>
          <p:nvPr/>
        </p:nvSpPr>
        <p:spPr>
          <a:xfrm flipH="false" flipV="false" rot="0">
            <a:off x="1588237" y="2300533"/>
            <a:ext cx="825844" cy="895886"/>
          </a:xfrm>
          <a:custGeom>
            <a:avLst/>
            <a:gdLst/>
            <a:ahLst/>
            <a:cxnLst/>
            <a:rect r="r" b="b" t="t" l="l"/>
            <a:pathLst>
              <a:path h="895886" w="825844">
                <a:moveTo>
                  <a:pt x="0" y="0"/>
                </a:moveTo>
                <a:lnTo>
                  <a:pt x="825844" y="0"/>
                </a:lnTo>
                <a:lnTo>
                  <a:pt x="825844" y="895886"/>
                </a:lnTo>
                <a:lnTo>
                  <a:pt x="0" y="895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215824" y="5241537"/>
            <a:ext cx="8573863" cy="4165127"/>
            <a:chOff x="0" y="0"/>
            <a:chExt cx="2258137" cy="1096988"/>
          </a:xfrm>
        </p:grpSpPr>
        <p:sp>
          <p:nvSpPr>
            <p:cNvPr name="Freeform 20" id="20"/>
            <p:cNvSpPr/>
            <p:nvPr/>
          </p:nvSpPr>
          <p:spPr>
            <a:xfrm flipH="false" flipV="false" rot="0">
              <a:off x="0" y="0"/>
              <a:ext cx="2258137" cy="1096988"/>
            </a:xfrm>
            <a:custGeom>
              <a:avLst/>
              <a:gdLst/>
              <a:ahLst/>
              <a:cxnLst/>
              <a:rect r="r" b="b" t="t" l="l"/>
              <a:pathLst>
                <a:path h="1096988" w="2258137">
                  <a:moveTo>
                    <a:pt x="46051" y="0"/>
                  </a:moveTo>
                  <a:lnTo>
                    <a:pt x="2212086" y="0"/>
                  </a:lnTo>
                  <a:cubicBezTo>
                    <a:pt x="2237519" y="0"/>
                    <a:pt x="2258137" y="20618"/>
                    <a:pt x="2258137" y="46051"/>
                  </a:cubicBezTo>
                  <a:lnTo>
                    <a:pt x="2258137" y="1050937"/>
                  </a:lnTo>
                  <a:cubicBezTo>
                    <a:pt x="2258137" y="1063151"/>
                    <a:pt x="2253285" y="1074864"/>
                    <a:pt x="2244649" y="1083500"/>
                  </a:cubicBezTo>
                  <a:cubicBezTo>
                    <a:pt x="2236012" y="1092136"/>
                    <a:pt x="2224299" y="1096988"/>
                    <a:pt x="2212086" y="1096988"/>
                  </a:cubicBezTo>
                  <a:lnTo>
                    <a:pt x="46051" y="1096988"/>
                  </a:lnTo>
                  <a:cubicBezTo>
                    <a:pt x="20618" y="1096988"/>
                    <a:pt x="0" y="1076370"/>
                    <a:pt x="0" y="1050937"/>
                  </a:cubicBezTo>
                  <a:lnTo>
                    <a:pt x="0" y="46051"/>
                  </a:lnTo>
                  <a:cubicBezTo>
                    <a:pt x="0" y="20618"/>
                    <a:pt x="20618" y="0"/>
                    <a:pt x="46051" y="0"/>
                  </a:cubicBezTo>
                  <a:close/>
                </a:path>
              </a:pathLst>
            </a:custGeom>
            <a:solidFill>
              <a:srgbClr val="F0F0F0"/>
            </a:solidFill>
          </p:spPr>
        </p:sp>
        <p:sp>
          <p:nvSpPr>
            <p:cNvPr name="TextBox 21" id="21"/>
            <p:cNvSpPr txBox="true"/>
            <p:nvPr/>
          </p:nvSpPr>
          <p:spPr>
            <a:xfrm>
              <a:off x="0" y="-57150"/>
              <a:ext cx="2258137" cy="1154138"/>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88237" y="6764488"/>
            <a:ext cx="7871909" cy="2203449"/>
          </a:xfrm>
          <a:prstGeom prst="rect">
            <a:avLst/>
          </a:prstGeom>
        </p:spPr>
        <p:txBody>
          <a:bodyPr anchor="t" rtlCol="false" tIns="0" lIns="0" bIns="0" rIns="0">
            <a:spAutoFit/>
          </a:bodyPr>
          <a:lstStyle/>
          <a:p>
            <a:pPr algn="l" marL="539754" indent="-269877" lvl="1">
              <a:lnSpc>
                <a:spcPts val="3500"/>
              </a:lnSpc>
              <a:spcBef>
                <a:spcPct val="0"/>
              </a:spcBef>
              <a:buFont typeface="Arial"/>
              <a:buChar char="•"/>
            </a:pPr>
            <a:r>
              <a:rPr lang="en-US" sz="2500" spc="-50">
                <a:solidFill>
                  <a:srgbClr val="242424"/>
                </a:solidFill>
                <a:latin typeface="Poppins"/>
                <a:ea typeface="Poppins"/>
                <a:cs typeface="Poppins"/>
                <a:sym typeface="Poppins"/>
              </a:rPr>
              <a:t>Reduces prediction risk by smoothing out individual</a:t>
            </a:r>
            <a:r>
              <a:rPr lang="en-US" sz="2500" spc="-50">
                <a:solidFill>
                  <a:srgbClr val="242424"/>
                </a:solidFill>
                <a:latin typeface="Poppins"/>
                <a:ea typeface="Poppins"/>
                <a:cs typeface="Poppins"/>
                <a:sym typeface="Poppins"/>
              </a:rPr>
              <a:t> model errors</a:t>
            </a:r>
          </a:p>
          <a:p>
            <a:pPr algn="l" marL="539754" indent="-269877" lvl="1">
              <a:lnSpc>
                <a:spcPts val="3500"/>
              </a:lnSpc>
              <a:spcBef>
                <a:spcPct val="0"/>
              </a:spcBef>
              <a:buFont typeface="Arial"/>
              <a:buChar char="•"/>
            </a:pPr>
            <a:r>
              <a:rPr lang="en-US" sz="2500" spc="-50">
                <a:solidFill>
                  <a:srgbClr val="242424"/>
                </a:solidFill>
                <a:latin typeface="Poppins"/>
                <a:ea typeface="Poppins"/>
                <a:cs typeface="Poppins"/>
                <a:sym typeface="Poppins"/>
              </a:rPr>
              <a:t>More stable when facing data shifts or market changes</a:t>
            </a:r>
          </a:p>
          <a:p>
            <a:pPr algn="l" marL="539754" indent="-269877" lvl="1">
              <a:lnSpc>
                <a:spcPts val="3500"/>
              </a:lnSpc>
              <a:spcBef>
                <a:spcPct val="0"/>
              </a:spcBef>
              <a:buFont typeface="Arial"/>
              <a:buChar char="•"/>
            </a:pPr>
            <a:r>
              <a:rPr lang="en-US" sz="2500" spc="-50">
                <a:solidFill>
                  <a:srgbClr val="242424"/>
                </a:solidFill>
                <a:latin typeface="Poppins"/>
                <a:ea typeface="Poppins"/>
                <a:cs typeface="Poppins"/>
                <a:sym typeface="Poppins"/>
              </a:rPr>
              <a:t>Easy to update, low cost</a:t>
            </a:r>
          </a:p>
        </p:txBody>
      </p:sp>
      <p:sp>
        <p:nvSpPr>
          <p:cNvPr name="TextBox 23" id="23"/>
          <p:cNvSpPr txBox="true"/>
          <p:nvPr/>
        </p:nvSpPr>
        <p:spPr>
          <a:xfrm rot="0">
            <a:off x="2701850" y="5633920"/>
            <a:ext cx="5928393" cy="717550"/>
          </a:xfrm>
          <a:prstGeom prst="rect">
            <a:avLst/>
          </a:prstGeom>
        </p:spPr>
        <p:txBody>
          <a:bodyPr anchor="t" rtlCol="false" tIns="0" lIns="0" bIns="0" rIns="0">
            <a:spAutoFit/>
          </a:bodyPr>
          <a:lstStyle/>
          <a:p>
            <a:pPr algn="ctr">
              <a:lnSpc>
                <a:spcPts val="5599"/>
              </a:lnSpc>
              <a:spcBef>
                <a:spcPct val="0"/>
              </a:spcBef>
            </a:pPr>
            <a:r>
              <a:rPr lang="en-US" b="true" sz="3999" spc="-79">
                <a:solidFill>
                  <a:srgbClr val="00569E"/>
                </a:solidFill>
                <a:latin typeface="Poppins Bold"/>
                <a:ea typeface="Poppins Bold"/>
                <a:cs typeface="Poppins Bold"/>
                <a:sym typeface="Poppins Bold"/>
              </a:rPr>
              <a:t>Business Application</a:t>
            </a:r>
          </a:p>
        </p:txBody>
      </p:sp>
      <p:sp>
        <p:nvSpPr>
          <p:cNvPr name="Freeform 24" id="24"/>
          <p:cNvSpPr/>
          <p:nvPr/>
        </p:nvSpPr>
        <p:spPr>
          <a:xfrm flipH="false" flipV="false" rot="0">
            <a:off x="1743792" y="5584437"/>
            <a:ext cx="624616" cy="930999"/>
          </a:xfrm>
          <a:custGeom>
            <a:avLst/>
            <a:gdLst/>
            <a:ahLst/>
            <a:cxnLst/>
            <a:rect r="r" b="b" t="t" l="l"/>
            <a:pathLst>
              <a:path h="930999" w="624616">
                <a:moveTo>
                  <a:pt x="0" y="0"/>
                </a:moveTo>
                <a:lnTo>
                  <a:pt x="624616" y="0"/>
                </a:lnTo>
                <a:lnTo>
                  <a:pt x="624616" y="930999"/>
                </a:lnTo>
                <a:lnTo>
                  <a:pt x="0" y="930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11342255" y="3079315"/>
            <a:ext cx="6296996" cy="4128371"/>
          </a:xfrm>
          <a:custGeom>
            <a:avLst/>
            <a:gdLst/>
            <a:ahLst/>
            <a:cxnLst/>
            <a:rect r="r" b="b" t="t" l="l"/>
            <a:pathLst>
              <a:path h="4128371" w="6296996">
                <a:moveTo>
                  <a:pt x="0" y="0"/>
                </a:moveTo>
                <a:lnTo>
                  <a:pt x="6296996" y="0"/>
                </a:lnTo>
                <a:lnTo>
                  <a:pt x="6296996" y="4128370"/>
                </a:lnTo>
                <a:lnTo>
                  <a:pt x="0" y="4128370"/>
                </a:lnTo>
                <a:lnTo>
                  <a:pt x="0" y="0"/>
                </a:lnTo>
                <a:close/>
              </a:path>
            </a:pathLst>
          </a:custGeom>
          <a:blipFill>
            <a:blip r:embed="rId2"/>
            <a:stretch>
              <a:fillRect l="-30950" t="0" r="0" b="0"/>
            </a:stretch>
          </a:blipFill>
        </p:spPr>
      </p:sp>
      <p:grpSp>
        <p:nvGrpSpPr>
          <p:cNvPr name="Group 3" id="3"/>
          <p:cNvGrpSpPr/>
          <p:nvPr/>
        </p:nvGrpSpPr>
        <p:grpSpPr>
          <a:xfrm rot="0">
            <a:off x="-3724222" y="-4507687"/>
            <a:ext cx="5924489" cy="592448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5238003" y="8290589"/>
            <a:ext cx="7523780" cy="75237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5380917" y="3558589"/>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Policy Duration</a:t>
            </a:r>
          </a:p>
        </p:txBody>
      </p:sp>
      <p:sp>
        <p:nvSpPr>
          <p:cNvPr name="TextBox 10" id="10"/>
          <p:cNvSpPr txBox="true"/>
          <p:nvPr/>
        </p:nvSpPr>
        <p:spPr>
          <a:xfrm rot="0">
            <a:off x="5380917" y="402439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Net Premium</a:t>
            </a:r>
          </a:p>
        </p:txBody>
      </p:sp>
      <p:sp>
        <p:nvSpPr>
          <p:cNvPr name="TextBox 11" id="11"/>
          <p:cNvSpPr txBox="true"/>
          <p:nvPr/>
        </p:nvSpPr>
        <p:spPr>
          <a:xfrm rot="0">
            <a:off x="5380917" y="4473601"/>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 of Cancelled Policies</a:t>
            </a:r>
          </a:p>
        </p:txBody>
      </p:sp>
      <p:sp>
        <p:nvSpPr>
          <p:cNvPr name="TextBox 12" id="12"/>
          <p:cNvSpPr txBox="true"/>
          <p:nvPr/>
        </p:nvSpPr>
        <p:spPr>
          <a:xfrm rot="0">
            <a:off x="5380917" y="489965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Payment Frequency</a:t>
            </a:r>
          </a:p>
        </p:txBody>
      </p:sp>
      <p:sp>
        <p:nvSpPr>
          <p:cNvPr name="TextBox 13" id="13"/>
          <p:cNvSpPr txBox="true"/>
          <p:nvPr/>
        </p:nvSpPr>
        <p:spPr>
          <a:xfrm rot="0">
            <a:off x="5380917" y="5368130"/>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License Age</a:t>
            </a:r>
          </a:p>
        </p:txBody>
      </p:sp>
      <p:sp>
        <p:nvSpPr>
          <p:cNvPr name="TextBox 14" id="14"/>
          <p:cNvSpPr txBox="true"/>
          <p:nvPr/>
        </p:nvSpPr>
        <p:spPr>
          <a:xfrm rot="0">
            <a:off x="5380917" y="5836608"/>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Weight</a:t>
            </a:r>
          </a:p>
        </p:txBody>
      </p:sp>
      <p:sp>
        <p:nvSpPr>
          <p:cNvPr name="TextBox 15" id="15"/>
          <p:cNvSpPr txBox="true"/>
          <p:nvPr/>
        </p:nvSpPr>
        <p:spPr>
          <a:xfrm rot="0">
            <a:off x="5380917" y="6266985"/>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Cylinder Capacity</a:t>
            </a:r>
          </a:p>
        </p:txBody>
      </p:sp>
      <p:sp>
        <p:nvSpPr>
          <p:cNvPr name="TextBox 16" id="16"/>
          <p:cNvSpPr txBox="true"/>
          <p:nvPr/>
        </p:nvSpPr>
        <p:spPr>
          <a:xfrm rot="0">
            <a:off x="5380917" y="671641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Power</a:t>
            </a:r>
          </a:p>
        </p:txBody>
      </p:sp>
      <p:grpSp>
        <p:nvGrpSpPr>
          <p:cNvPr name="Group 17" id="17"/>
          <p:cNvGrpSpPr/>
          <p:nvPr/>
        </p:nvGrpSpPr>
        <p:grpSpPr>
          <a:xfrm rot="0">
            <a:off x="1028700" y="1193947"/>
            <a:ext cx="7523780" cy="7546156"/>
            <a:chOff x="0" y="0"/>
            <a:chExt cx="2106826" cy="2113092"/>
          </a:xfrm>
        </p:grpSpPr>
        <p:sp>
          <p:nvSpPr>
            <p:cNvPr name="Freeform 18" id="18"/>
            <p:cNvSpPr/>
            <p:nvPr/>
          </p:nvSpPr>
          <p:spPr>
            <a:xfrm flipH="false" flipV="false" rot="0">
              <a:off x="0" y="0"/>
              <a:ext cx="2106826" cy="2113092"/>
            </a:xfrm>
            <a:custGeom>
              <a:avLst/>
              <a:gdLst/>
              <a:ahLst/>
              <a:cxnLst/>
              <a:rect r="r" b="b" t="t" l="l"/>
              <a:pathLst>
                <a:path h="2113092" w="2106826">
                  <a:moveTo>
                    <a:pt x="0" y="0"/>
                  </a:moveTo>
                  <a:lnTo>
                    <a:pt x="2106826" y="0"/>
                  </a:lnTo>
                  <a:lnTo>
                    <a:pt x="2106826" y="2113092"/>
                  </a:lnTo>
                  <a:lnTo>
                    <a:pt x="0" y="2113092"/>
                  </a:lnTo>
                  <a:close/>
                </a:path>
              </a:pathLst>
            </a:custGeom>
            <a:solidFill>
              <a:srgbClr val="145DA0">
                <a:alpha val="95686"/>
              </a:srgbClr>
            </a:solidFill>
            <a:ln cap="sq">
              <a:noFill/>
              <a:prstDash val="solid"/>
              <a:miter/>
            </a:ln>
          </p:spPr>
        </p:sp>
        <p:sp>
          <p:nvSpPr>
            <p:cNvPr name="TextBox 19" id="19"/>
            <p:cNvSpPr txBox="true"/>
            <p:nvPr/>
          </p:nvSpPr>
          <p:spPr>
            <a:xfrm>
              <a:off x="0" y="-57150"/>
              <a:ext cx="2106826" cy="217024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0">
            <a:off x="1028700" y="8740103"/>
            <a:ext cx="7523780" cy="428991"/>
            <a:chOff x="0" y="0"/>
            <a:chExt cx="2106826" cy="120127"/>
          </a:xfrm>
        </p:grpSpPr>
        <p:sp>
          <p:nvSpPr>
            <p:cNvPr name="Freeform 21" id="21"/>
            <p:cNvSpPr/>
            <p:nvPr/>
          </p:nvSpPr>
          <p:spPr>
            <a:xfrm flipH="false" flipV="false" rot="0">
              <a:off x="0" y="0"/>
              <a:ext cx="2106826" cy="120127"/>
            </a:xfrm>
            <a:custGeom>
              <a:avLst/>
              <a:gdLst/>
              <a:ahLst/>
              <a:cxnLst/>
              <a:rect r="r" b="b" t="t" l="l"/>
              <a:pathLst>
                <a:path h="120127" w="2106826">
                  <a:moveTo>
                    <a:pt x="0" y="0"/>
                  </a:moveTo>
                  <a:lnTo>
                    <a:pt x="2106826" y="0"/>
                  </a:lnTo>
                  <a:lnTo>
                    <a:pt x="2106826" y="120127"/>
                  </a:lnTo>
                  <a:lnTo>
                    <a:pt x="0" y="120127"/>
                  </a:lnTo>
                  <a:close/>
                </a:path>
              </a:pathLst>
            </a:custGeom>
            <a:solidFill>
              <a:srgbClr val="145DA0">
                <a:alpha val="48627"/>
              </a:srgbClr>
            </a:solidFill>
            <a:ln cap="sq">
              <a:noFill/>
              <a:prstDash val="solid"/>
              <a:miter/>
            </a:ln>
          </p:spPr>
        </p:sp>
        <p:sp>
          <p:nvSpPr>
            <p:cNvPr name="TextBox 22" id="22"/>
            <p:cNvSpPr txBox="true"/>
            <p:nvPr/>
          </p:nvSpPr>
          <p:spPr>
            <a:xfrm>
              <a:off x="0" y="-57150"/>
              <a:ext cx="2106826" cy="17727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200267" y="1537146"/>
            <a:ext cx="3889492" cy="1018684"/>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Poppins Bold"/>
                <a:ea typeface="Poppins Bold"/>
                <a:cs typeface="Poppins Bold"/>
                <a:sym typeface="Poppins Bold"/>
              </a:rPr>
              <a:t>SHAP</a:t>
            </a:r>
          </a:p>
        </p:txBody>
      </p:sp>
      <p:sp>
        <p:nvSpPr>
          <p:cNvPr name="TextBox 24" id="24"/>
          <p:cNvSpPr txBox="true"/>
          <p:nvPr/>
        </p:nvSpPr>
        <p:spPr>
          <a:xfrm rot="0">
            <a:off x="1813411" y="4495690"/>
            <a:ext cx="2370352" cy="357988"/>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Policy Duration</a:t>
            </a:r>
          </a:p>
        </p:txBody>
      </p:sp>
      <p:sp>
        <p:nvSpPr>
          <p:cNvPr name="TextBox 25" id="25"/>
          <p:cNvSpPr txBox="true"/>
          <p:nvPr/>
        </p:nvSpPr>
        <p:spPr>
          <a:xfrm rot="0">
            <a:off x="4690827" y="4495690"/>
            <a:ext cx="3076942" cy="357988"/>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Premium Amount</a:t>
            </a:r>
          </a:p>
        </p:txBody>
      </p:sp>
      <p:sp>
        <p:nvSpPr>
          <p:cNvPr name="TextBox 26" id="26"/>
          <p:cNvSpPr txBox="true"/>
          <p:nvPr/>
        </p:nvSpPr>
        <p:spPr>
          <a:xfrm rot="0">
            <a:off x="1813411" y="6569728"/>
            <a:ext cx="2370352" cy="357988"/>
          </a:xfrm>
          <a:prstGeom prst="rect">
            <a:avLst/>
          </a:prstGeom>
        </p:spPr>
        <p:txBody>
          <a:bodyPr anchor="t" rtlCol="false" tIns="0" lIns="0" bIns="0" rIns="0">
            <a:spAutoFit/>
          </a:bodyPr>
          <a:lstStyle/>
          <a:p>
            <a:pPr algn="ctr" marL="0" indent="0" lvl="0">
              <a:lnSpc>
                <a:spcPts val="2843"/>
              </a:lnSpc>
              <a:spcBef>
                <a:spcPct val="0"/>
              </a:spcBef>
            </a:pPr>
            <a:r>
              <a:rPr lang="en-US" sz="2030" spc="-40" strike="noStrike" u="none">
                <a:solidFill>
                  <a:srgbClr val="FDFDFD"/>
                </a:solidFill>
                <a:latin typeface="Poppins"/>
                <a:ea typeface="Poppins"/>
                <a:cs typeface="Poppins"/>
                <a:sym typeface="Poppins"/>
              </a:rPr>
              <a:t>Cancelled Policies</a:t>
            </a:r>
          </a:p>
        </p:txBody>
      </p:sp>
      <p:sp>
        <p:nvSpPr>
          <p:cNvPr name="TextBox 27" id="27"/>
          <p:cNvSpPr txBox="true"/>
          <p:nvPr/>
        </p:nvSpPr>
        <p:spPr>
          <a:xfrm rot="0">
            <a:off x="4914406" y="6526923"/>
            <a:ext cx="2370352" cy="710413"/>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Payment Frequency</a:t>
            </a:r>
          </a:p>
        </p:txBody>
      </p:sp>
      <p:sp>
        <p:nvSpPr>
          <p:cNvPr name="Freeform 28" id="28"/>
          <p:cNvSpPr/>
          <p:nvPr/>
        </p:nvSpPr>
        <p:spPr>
          <a:xfrm flipH="false" flipV="false" rot="0">
            <a:off x="5724831" y="3492640"/>
            <a:ext cx="749502" cy="858804"/>
          </a:xfrm>
          <a:custGeom>
            <a:avLst/>
            <a:gdLst/>
            <a:ahLst/>
            <a:cxnLst/>
            <a:rect r="r" b="b" t="t" l="l"/>
            <a:pathLst>
              <a:path h="858804" w="749502">
                <a:moveTo>
                  <a:pt x="0" y="0"/>
                </a:moveTo>
                <a:lnTo>
                  <a:pt x="749502" y="0"/>
                </a:lnTo>
                <a:lnTo>
                  <a:pt x="749502" y="858805"/>
                </a:lnTo>
                <a:lnTo>
                  <a:pt x="0" y="8588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false" flipV="false" rot="0">
            <a:off x="2491236" y="5386265"/>
            <a:ext cx="928483" cy="942187"/>
          </a:xfrm>
          <a:custGeom>
            <a:avLst/>
            <a:gdLst/>
            <a:ahLst/>
            <a:cxnLst/>
            <a:rect r="r" b="b" t="t" l="l"/>
            <a:pathLst>
              <a:path h="942187" w="928483">
                <a:moveTo>
                  <a:pt x="0" y="0"/>
                </a:moveTo>
                <a:lnTo>
                  <a:pt x="928483" y="0"/>
                </a:lnTo>
                <a:lnTo>
                  <a:pt x="928483" y="942188"/>
                </a:lnTo>
                <a:lnTo>
                  <a:pt x="0" y="942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0" id="30"/>
          <p:cNvSpPr/>
          <p:nvPr/>
        </p:nvSpPr>
        <p:spPr>
          <a:xfrm flipH="false" flipV="false" rot="0">
            <a:off x="2552067" y="3201367"/>
            <a:ext cx="893040" cy="1072428"/>
          </a:xfrm>
          <a:custGeom>
            <a:avLst/>
            <a:gdLst/>
            <a:ahLst/>
            <a:cxnLst/>
            <a:rect r="r" b="b" t="t" l="l"/>
            <a:pathLst>
              <a:path h="1072428" w="893040">
                <a:moveTo>
                  <a:pt x="0" y="0"/>
                </a:moveTo>
                <a:lnTo>
                  <a:pt x="893040" y="0"/>
                </a:lnTo>
                <a:lnTo>
                  <a:pt x="893040" y="1072428"/>
                </a:lnTo>
                <a:lnTo>
                  <a:pt x="0" y="1072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0">
            <a:off x="5724831" y="5491100"/>
            <a:ext cx="796168" cy="767216"/>
          </a:xfrm>
          <a:custGeom>
            <a:avLst/>
            <a:gdLst/>
            <a:ahLst/>
            <a:cxnLst/>
            <a:rect r="r" b="b" t="t" l="l"/>
            <a:pathLst>
              <a:path h="767216" w="796168">
                <a:moveTo>
                  <a:pt x="0" y="0"/>
                </a:moveTo>
                <a:lnTo>
                  <a:pt x="796168" y="0"/>
                </a:lnTo>
                <a:lnTo>
                  <a:pt x="796168" y="767216"/>
                </a:lnTo>
                <a:lnTo>
                  <a:pt x="0" y="7672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2" id="32"/>
          <p:cNvSpPr txBox="true"/>
          <p:nvPr/>
        </p:nvSpPr>
        <p:spPr>
          <a:xfrm rot="0">
            <a:off x="2200267" y="2523681"/>
            <a:ext cx="7735704" cy="416702"/>
          </a:xfrm>
          <a:prstGeom prst="rect">
            <a:avLst/>
          </a:prstGeom>
        </p:spPr>
        <p:txBody>
          <a:bodyPr anchor="t" rtlCol="false" tIns="0" lIns="0" bIns="0" rIns="0">
            <a:spAutoFit/>
          </a:bodyPr>
          <a:lstStyle/>
          <a:p>
            <a:pPr algn="l" marL="0" indent="0" lvl="0">
              <a:lnSpc>
                <a:spcPts val="3282"/>
              </a:lnSpc>
              <a:spcBef>
                <a:spcPct val="0"/>
              </a:spcBef>
            </a:pPr>
            <a:r>
              <a:rPr lang="en-US" b="true" sz="2344">
                <a:solidFill>
                  <a:srgbClr val="FDFDFD"/>
                </a:solidFill>
                <a:latin typeface="Poppins Bold"/>
                <a:ea typeface="Poppins Bold"/>
                <a:cs typeface="Poppins Bold"/>
                <a:sym typeface="Poppins Bold"/>
              </a:rPr>
              <a:t>What Drives Loss Cost?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0" y="3305424"/>
            <a:ext cx="18288000" cy="3898900"/>
          </a:xfrm>
          <a:prstGeom prst="rect">
            <a:avLst/>
          </a:prstGeom>
        </p:spPr>
        <p:txBody>
          <a:bodyPr anchor="t" rtlCol="false" tIns="0" lIns="0" bIns="0" rIns="0">
            <a:spAutoFit/>
          </a:bodyPr>
          <a:lstStyle/>
          <a:p>
            <a:pPr algn="ctr">
              <a:lnSpc>
                <a:spcPts val="7699"/>
              </a:lnSpc>
              <a:spcBef>
                <a:spcPct val="0"/>
              </a:spcBef>
            </a:pPr>
            <a:r>
              <a:rPr lang="en-US" sz="5499" spc="-109">
                <a:solidFill>
                  <a:srgbClr val="000000"/>
                </a:solidFill>
                <a:latin typeface="Poppins"/>
                <a:ea typeface="Poppins"/>
                <a:cs typeface="Poppins"/>
                <a:sym typeface="Poppins"/>
              </a:rPr>
              <a:t>"So now you're trying t</a:t>
            </a:r>
            <a:r>
              <a:rPr lang="en-US" sz="5499" spc="-109">
                <a:solidFill>
                  <a:srgbClr val="000000"/>
                </a:solidFill>
                <a:latin typeface="Poppins"/>
                <a:ea typeface="Poppins"/>
                <a:cs typeface="Poppins"/>
                <a:sym typeface="Poppins"/>
              </a:rPr>
              <a:t>o guess whether someone's gonna file a claim. Basically, you're predicting human chaos. Fun. What's your approach — magic? Or did you bring actual features this time?"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9981012" y="3327501"/>
            <a:ext cx="7969864" cy="4752031"/>
          </a:xfrm>
          <a:custGeom>
            <a:avLst/>
            <a:gdLst/>
            <a:ahLst/>
            <a:cxnLst/>
            <a:rect r="r" b="b" t="t" l="l"/>
            <a:pathLst>
              <a:path h="4752031" w="7969864">
                <a:moveTo>
                  <a:pt x="0" y="0"/>
                </a:moveTo>
                <a:lnTo>
                  <a:pt x="7969864" y="0"/>
                </a:lnTo>
                <a:lnTo>
                  <a:pt x="7969864" y="4752031"/>
                </a:lnTo>
                <a:lnTo>
                  <a:pt x="0" y="4752031"/>
                </a:lnTo>
                <a:lnTo>
                  <a:pt x="0" y="0"/>
                </a:lnTo>
                <a:close/>
              </a:path>
            </a:pathLst>
          </a:custGeom>
          <a:blipFill>
            <a:blip r:embed="rId2"/>
            <a:stretch>
              <a:fillRect l="0" t="0" r="0" b="0"/>
            </a:stretch>
          </a:blipFill>
        </p:spPr>
      </p:sp>
      <p:sp>
        <p:nvSpPr>
          <p:cNvPr name="TextBox 3" id="3"/>
          <p:cNvSpPr txBox="true"/>
          <p:nvPr/>
        </p:nvSpPr>
        <p:spPr>
          <a:xfrm rot="0">
            <a:off x="660235" y="2091583"/>
            <a:ext cx="9129452" cy="7887414"/>
          </a:xfrm>
          <a:prstGeom prst="rect">
            <a:avLst/>
          </a:prstGeom>
        </p:spPr>
        <p:txBody>
          <a:bodyPr anchor="t" rtlCol="false" tIns="0" lIns="0" bIns="0" rIns="0">
            <a:spAutoFit/>
          </a:bodyPr>
          <a:lstStyle/>
          <a:p>
            <a:pPr algn="l">
              <a:lnSpc>
                <a:spcPts val="3219"/>
              </a:lnSpc>
            </a:pPr>
            <a:r>
              <a:rPr lang="en-US" sz="2299" spc="-45" b="true">
                <a:solidFill>
                  <a:srgbClr val="FF5757"/>
                </a:solidFill>
                <a:latin typeface="Poppins Bold"/>
                <a:ea typeface="Poppins Bold"/>
                <a:cs typeface="Poppins Bold"/>
                <a:sym typeface="Poppins Bold"/>
              </a:rPr>
              <a:t>The Challeange:</a:t>
            </a:r>
          </a:p>
          <a:p>
            <a:pPr algn="l">
              <a:lnSpc>
                <a:spcPts val="2983"/>
              </a:lnSpc>
            </a:pP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Claim Status (CS) </a:t>
            </a:r>
            <a:r>
              <a:rPr lang="en-US" b="true" sz="2130" spc="-42">
                <a:solidFill>
                  <a:srgbClr val="051D40"/>
                </a:solidFill>
                <a:latin typeface="Poppins Bold"/>
                <a:ea typeface="Poppins Bold"/>
                <a:cs typeface="Poppins Bold"/>
                <a:sym typeface="Poppins Bold"/>
              </a:rPr>
              <a:t>highly imbalanced</a:t>
            </a:r>
          </a:p>
          <a:p>
            <a:pPr algn="l" marL="920158" indent="-306719" lvl="2">
              <a:lnSpc>
                <a:spcPts val="2983"/>
              </a:lnSpc>
              <a:buFont typeface="Arial"/>
              <a:buChar char="⚬"/>
            </a:pPr>
            <a:r>
              <a:rPr lang="en-US" sz="2130" spc="-42">
                <a:solidFill>
                  <a:srgbClr val="051D40"/>
                </a:solidFill>
                <a:latin typeface="Poppins"/>
                <a:ea typeface="Poppins"/>
                <a:cs typeface="Poppins"/>
                <a:sym typeface="Poppins"/>
              </a:rPr>
              <a:t>Class 0 (no claim): ~89%</a:t>
            </a:r>
          </a:p>
          <a:p>
            <a:pPr algn="l" marL="920158" indent="-306719" lvl="2">
              <a:lnSpc>
                <a:spcPts val="2983"/>
              </a:lnSpc>
              <a:buFont typeface="Arial"/>
              <a:buChar char="⚬"/>
            </a:pPr>
            <a:r>
              <a:rPr lang="en-US" sz="2130" spc="-42">
                <a:solidFill>
                  <a:srgbClr val="051D40"/>
                </a:solidFill>
                <a:latin typeface="Poppins"/>
                <a:ea typeface="Poppins"/>
                <a:cs typeface="Poppins"/>
                <a:sym typeface="Poppins"/>
              </a:rPr>
              <a:t>Class 1 (claim): ~11%</a:t>
            </a: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Most models default to predicting “no claim” → </a:t>
            </a:r>
            <a:r>
              <a:rPr lang="en-US" b="true" sz="2130" spc="-42">
                <a:solidFill>
                  <a:srgbClr val="051D40"/>
                </a:solidFill>
                <a:latin typeface="Poppins Bold"/>
                <a:ea typeface="Poppins Bold"/>
                <a:cs typeface="Poppins Bold"/>
                <a:sym typeface="Poppins Bold"/>
              </a:rPr>
              <a:t>misleading accuracy</a:t>
            </a:r>
          </a:p>
          <a:p>
            <a:pPr algn="l">
              <a:lnSpc>
                <a:spcPts val="2983"/>
              </a:lnSpc>
            </a:pPr>
          </a:p>
          <a:p>
            <a:pPr algn="l">
              <a:lnSpc>
                <a:spcPts val="3219"/>
              </a:lnSpc>
            </a:pPr>
            <a:r>
              <a:rPr lang="en-US" sz="2299" spc="-45" b="true">
                <a:solidFill>
                  <a:srgbClr val="EF8080"/>
                </a:solidFill>
                <a:latin typeface="Poppins Bold"/>
                <a:ea typeface="Poppins Bold"/>
                <a:cs typeface="Poppins Bold"/>
                <a:sym typeface="Poppins Bold"/>
              </a:rPr>
              <a:t>Why It Matters:</a:t>
            </a:r>
          </a:p>
          <a:p>
            <a:pPr algn="l">
              <a:lnSpc>
                <a:spcPts val="2983"/>
              </a:lnSpc>
            </a:pPr>
          </a:p>
          <a:p>
            <a:pPr algn="l" marL="460079" indent="-230040" lvl="1">
              <a:lnSpc>
                <a:spcPts val="2983"/>
              </a:lnSpc>
              <a:buFont typeface="Arial"/>
              <a:buChar char="•"/>
            </a:pPr>
            <a:r>
              <a:rPr lang="en-US" b="true" sz="2130" spc="-42">
                <a:solidFill>
                  <a:srgbClr val="051D40"/>
                </a:solidFill>
                <a:latin typeface="Poppins Bold"/>
                <a:ea typeface="Poppins Bold"/>
                <a:cs typeface="Poppins Bold"/>
                <a:sym typeface="Poppins Bold"/>
              </a:rPr>
              <a:t>B</a:t>
            </a:r>
            <a:r>
              <a:rPr lang="en-US" b="true" sz="2130" spc="-42">
                <a:solidFill>
                  <a:srgbClr val="051D40"/>
                </a:solidFill>
                <a:latin typeface="Poppins Bold"/>
                <a:ea typeface="Poppins Bold"/>
                <a:cs typeface="Poppins Bold"/>
                <a:sym typeface="Poppins Bold"/>
              </a:rPr>
              <a:t>usiness risk:</a:t>
            </a:r>
            <a:r>
              <a:rPr lang="en-US" sz="2130" spc="-42">
                <a:solidFill>
                  <a:srgbClr val="051D40"/>
                </a:solidFill>
                <a:latin typeface="Poppins"/>
                <a:ea typeface="Poppins"/>
                <a:cs typeface="Poppins"/>
                <a:sym typeface="Poppins"/>
              </a:rPr>
              <a:t> Missing real claimants leads to underpricing</a:t>
            </a: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Catching claims = </a:t>
            </a:r>
            <a:r>
              <a:rPr lang="en-US" b="true" sz="2130" spc="-42">
                <a:solidFill>
                  <a:srgbClr val="051D40"/>
                </a:solidFill>
                <a:latin typeface="Poppins Bold"/>
                <a:ea typeface="Poppins Bold"/>
                <a:cs typeface="Poppins Bold"/>
                <a:sym typeface="Poppins Bold"/>
              </a:rPr>
              <a:t>more accurate pricing + portfolio protection</a:t>
            </a:r>
          </a:p>
          <a:p>
            <a:pPr algn="l">
              <a:lnSpc>
                <a:spcPts val="2983"/>
              </a:lnSpc>
            </a:pPr>
          </a:p>
          <a:p>
            <a:pPr algn="l">
              <a:lnSpc>
                <a:spcPts val="3219"/>
              </a:lnSpc>
            </a:pPr>
            <a:r>
              <a:rPr lang="en-US" sz="2299" spc="-45" b="true">
                <a:solidFill>
                  <a:srgbClr val="EF8080"/>
                </a:solidFill>
                <a:latin typeface="Poppins Bold"/>
                <a:ea typeface="Poppins Bold"/>
                <a:cs typeface="Poppins Bold"/>
                <a:sym typeface="Poppins Bold"/>
              </a:rPr>
              <a:t>Our Solution: SMOTE </a:t>
            </a:r>
          </a:p>
          <a:p>
            <a:pPr algn="l">
              <a:lnSpc>
                <a:spcPts val="2983"/>
              </a:lnSpc>
            </a:pP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Balances the training data → </a:t>
            </a:r>
            <a:r>
              <a:rPr lang="en-US" b="true" sz="2130" spc="-42">
                <a:solidFill>
                  <a:srgbClr val="051D40"/>
                </a:solidFill>
                <a:latin typeface="Poppins Bold"/>
                <a:ea typeface="Poppins Bold"/>
                <a:cs typeface="Poppins Bold"/>
                <a:sym typeface="Poppins Bold"/>
              </a:rPr>
              <a:t>synthetic examples</a:t>
            </a:r>
            <a:r>
              <a:rPr lang="en-US" sz="2130" spc="-42">
                <a:solidFill>
                  <a:srgbClr val="051D40"/>
                </a:solidFill>
                <a:latin typeface="Poppins"/>
                <a:ea typeface="Poppins"/>
                <a:cs typeface="Poppins"/>
                <a:sym typeface="Poppins"/>
              </a:rPr>
              <a:t> for the </a:t>
            </a:r>
            <a:r>
              <a:rPr lang="en-US" b="true" sz="2130" spc="-42">
                <a:solidFill>
                  <a:srgbClr val="051D40"/>
                </a:solidFill>
                <a:latin typeface="Poppins Bold"/>
                <a:ea typeface="Poppins Bold"/>
                <a:cs typeface="Poppins Bold"/>
                <a:sym typeface="Poppins Bold"/>
              </a:rPr>
              <a:t>minority class (CS = 1)</a:t>
            </a: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Applied </a:t>
            </a:r>
            <a:r>
              <a:rPr lang="en-US" b="true" sz="2130" spc="-42">
                <a:solidFill>
                  <a:srgbClr val="051D40"/>
                </a:solidFill>
                <a:latin typeface="Poppins Bold"/>
                <a:ea typeface="Poppins Bold"/>
                <a:cs typeface="Poppins Bold"/>
                <a:sym typeface="Poppins Bold"/>
              </a:rPr>
              <a:t>only to training data</a:t>
            </a:r>
          </a:p>
          <a:p>
            <a:pPr algn="l" marL="460079" indent="-230040" lvl="1">
              <a:lnSpc>
                <a:spcPts val="2983"/>
              </a:lnSpc>
              <a:buFont typeface="Arial"/>
              <a:buChar char="•"/>
            </a:pPr>
            <a:r>
              <a:rPr lang="en-US" sz="2130" spc="-42">
                <a:solidFill>
                  <a:srgbClr val="051D40"/>
                </a:solidFill>
                <a:latin typeface="Poppins"/>
                <a:ea typeface="Poppins"/>
                <a:cs typeface="Poppins"/>
                <a:sym typeface="Poppins"/>
              </a:rPr>
              <a:t>Helps models learn class 1 patterns without overfitting</a:t>
            </a:r>
          </a:p>
          <a:p>
            <a:pPr algn="l">
              <a:lnSpc>
                <a:spcPts val="2983"/>
              </a:lnSpc>
            </a:pPr>
          </a:p>
          <a:p>
            <a:pPr algn="l">
              <a:lnSpc>
                <a:spcPts val="2983"/>
              </a:lnSpc>
            </a:pPr>
          </a:p>
        </p:txBody>
      </p:sp>
      <p:grpSp>
        <p:nvGrpSpPr>
          <p:cNvPr name="Group 4" id="4"/>
          <p:cNvGrpSpPr/>
          <p:nvPr/>
        </p:nvGrpSpPr>
        <p:grpSpPr>
          <a:xfrm rot="0">
            <a:off x="0" y="0"/>
            <a:ext cx="18476217" cy="1459818"/>
            <a:chOff x="0" y="0"/>
            <a:chExt cx="4866164" cy="384479"/>
          </a:xfrm>
        </p:grpSpPr>
        <p:sp>
          <p:nvSpPr>
            <p:cNvPr name="Freeform 5" id="5"/>
            <p:cNvSpPr/>
            <p:nvPr/>
          </p:nvSpPr>
          <p:spPr>
            <a:xfrm flipH="false" flipV="false" rot="0">
              <a:off x="0" y="0"/>
              <a:ext cx="4866164" cy="384479"/>
            </a:xfrm>
            <a:custGeom>
              <a:avLst/>
              <a:gdLst/>
              <a:ahLst/>
              <a:cxnLst/>
              <a:rect r="r" b="b" t="t" l="l"/>
              <a:pathLst>
                <a:path h="384479" w="4866164">
                  <a:moveTo>
                    <a:pt x="0" y="0"/>
                  </a:moveTo>
                  <a:lnTo>
                    <a:pt x="4866164" y="0"/>
                  </a:lnTo>
                  <a:lnTo>
                    <a:pt x="4866164" y="384479"/>
                  </a:lnTo>
                  <a:lnTo>
                    <a:pt x="0" y="384479"/>
                  </a:ln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sq">
              <a:noFill/>
              <a:prstDash val="solid"/>
              <a:miter/>
            </a:ln>
          </p:spPr>
        </p:sp>
        <p:sp>
          <p:nvSpPr>
            <p:cNvPr name="TextBox 6" id="6"/>
            <p:cNvSpPr txBox="true"/>
            <p:nvPr/>
          </p:nvSpPr>
          <p:spPr>
            <a:xfrm>
              <a:off x="0" y="-57150"/>
              <a:ext cx="4866164" cy="4416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4993863" y="254960"/>
            <a:ext cx="9591648" cy="819135"/>
          </a:xfrm>
          <a:prstGeom prst="rect">
            <a:avLst/>
          </a:prstGeom>
        </p:spPr>
        <p:txBody>
          <a:bodyPr anchor="t" rtlCol="false" tIns="0" lIns="0" bIns="0" rIns="0">
            <a:spAutoFit/>
          </a:bodyPr>
          <a:lstStyle/>
          <a:p>
            <a:pPr algn="l">
              <a:lnSpc>
                <a:spcPts val="6300"/>
              </a:lnSpc>
              <a:spcBef>
                <a:spcPct val="0"/>
              </a:spcBef>
            </a:pPr>
            <a:r>
              <a:rPr lang="en-US" b="true" sz="4500">
                <a:solidFill>
                  <a:srgbClr val="FFFFFF"/>
                </a:solidFill>
                <a:latin typeface="Poppins Bold"/>
                <a:ea typeface="Poppins Bold"/>
                <a:cs typeface="Poppins Bold"/>
                <a:sym typeface="Poppins Bold"/>
              </a:rPr>
              <a:t>Dealing with Class Imbalance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5" id="5"/>
          <p:cNvGraphicFramePr>
            <a:graphicFrameLocks noGrp="true"/>
          </p:cNvGraphicFramePr>
          <p:nvPr/>
        </p:nvGraphicFramePr>
        <p:xfrm>
          <a:off x="7998484" y="3209998"/>
          <a:ext cx="9785057" cy="6032057"/>
        </p:xfrm>
        <a:graphic>
          <a:graphicData uri="http://schemas.openxmlformats.org/drawingml/2006/table">
            <a:tbl>
              <a:tblPr/>
              <a:tblGrid>
                <a:gridCol w="1957011"/>
                <a:gridCol w="1957011"/>
                <a:gridCol w="1957011"/>
                <a:gridCol w="1957011"/>
                <a:gridCol w="1957011"/>
              </a:tblGrid>
              <a:tr h="1036869">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Model</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145DA0"/>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145DA0"/>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ROC-AUC</a:t>
                      </a:r>
                      <a:endParaRPr lang="en-US" sz="1100"/>
                    </a:p>
                  </a:txBody>
                  <a:tcPr marL="190500" marR="190500" marT="190500" marB="190500" anchor="ctr">
                    <a:lnL cmpd="sng" algn="ctr" cap="flat" w="38100">
                      <a:solidFill>
                        <a:srgbClr val="145DA0"/>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Recall (1)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F1 (1)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Accuracy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r>
              <a:tr h="1236535">
                <a:tc>
                  <a:txBody>
                    <a:bodyPr anchor="t" rtlCol="false"/>
                    <a:lstStyle/>
                    <a:p>
                      <a:pPr algn="ctr">
                        <a:lnSpc>
                          <a:spcPts val="2659"/>
                        </a:lnSpc>
                        <a:defRPr/>
                      </a:pPr>
                      <a:r>
                        <a:rPr lang="en-US" sz="1899">
                          <a:solidFill>
                            <a:srgbClr val="145DA0"/>
                          </a:solidFill>
                          <a:latin typeface="Poppins"/>
                          <a:ea typeface="Poppins"/>
                          <a:cs typeface="Poppins"/>
                          <a:sym typeface="Poppins"/>
                        </a:rPr>
                        <a:t>Random Forest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145DA0"/>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0.7356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0.03</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0.89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2884">
                <a:tc>
                  <a:txBody>
                    <a:bodyPr anchor="t" rtlCol="false"/>
                    <a:lstStyle/>
                    <a:p>
                      <a:pPr algn="ctr">
                        <a:lnSpc>
                          <a:spcPts val="2659"/>
                        </a:lnSpc>
                        <a:defRPr/>
                      </a:pPr>
                      <a:r>
                        <a:rPr lang="en-US" sz="1899">
                          <a:solidFill>
                            <a:srgbClr val="145DA0"/>
                          </a:solidFill>
                          <a:latin typeface="Poppins"/>
                          <a:ea typeface="Poppins"/>
                          <a:cs typeface="Poppins"/>
                          <a:sym typeface="Poppins"/>
                        </a:rPr>
                        <a:t>Gradient Boosting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0.7347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0.89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2884">
                <a:tc>
                  <a:txBody>
                    <a:bodyPr anchor="t" rtlCol="false"/>
                    <a:lstStyle/>
                    <a:p>
                      <a:pPr algn="ctr">
                        <a:lnSpc>
                          <a:spcPts val="2659"/>
                        </a:lnSpc>
                        <a:defRPr/>
                      </a:pPr>
                      <a:r>
                        <a:rPr lang="en-US" sz="1899">
                          <a:solidFill>
                            <a:srgbClr val="145DA0"/>
                          </a:solidFill>
                          <a:latin typeface="Poppins"/>
                          <a:ea typeface="Poppins"/>
                          <a:cs typeface="Poppins"/>
                          <a:sym typeface="Poppins"/>
                        </a:rPr>
                        <a:t>LightGBM</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a:solidFill>
                            <a:srgbClr val="FFFFFF"/>
                          </a:solidFill>
                          <a:latin typeface="Poppins"/>
                          <a:ea typeface="Poppins"/>
                          <a:cs typeface="Poppins"/>
                          <a:sym typeface="Poppins"/>
                        </a:rPr>
                        <a:t>0.7400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0.00</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0.89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52884">
                <a:tc>
                  <a:txBody>
                    <a:bodyPr anchor="t" rtlCol="false"/>
                    <a:lstStyle/>
                    <a:p>
                      <a:pPr algn="ctr">
                        <a:lnSpc>
                          <a:spcPts val="2659"/>
                        </a:lnSpc>
                        <a:defRPr/>
                      </a:pPr>
                      <a:r>
                        <a:rPr lang="en-US" sz="1899" b="true">
                          <a:solidFill>
                            <a:srgbClr val="145DA0"/>
                          </a:solidFill>
                          <a:latin typeface="Poppins Bold"/>
                          <a:ea typeface="Poppins Bold"/>
                          <a:cs typeface="Poppins Bold"/>
                          <a:sym typeface="Poppins Bold"/>
                        </a:rPr>
                        <a:t>XGBoost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DFDFD"/>
                    </a:solidFill>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0.7371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0.69</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Poppins Bold"/>
                          <a:ea typeface="Poppins Bold"/>
                          <a:cs typeface="Poppins Bold"/>
                          <a:sym typeface="Poppins Bold"/>
                        </a:rPr>
                        <a:t>0.31</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Poppins"/>
                          <a:ea typeface="Poppins"/>
                          <a:cs typeface="Poppins"/>
                          <a:sym typeface="Poppins"/>
                        </a:rPr>
                        <a:t>0.66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6" id="6"/>
          <p:cNvSpPr txBox="true"/>
          <p:nvPr/>
        </p:nvSpPr>
        <p:spPr>
          <a:xfrm rot="0">
            <a:off x="3815560" y="514122"/>
            <a:ext cx="11273843" cy="1832401"/>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Poppins Bold"/>
                <a:ea typeface="Poppins Bold"/>
                <a:cs typeface="Poppins Bold"/>
                <a:sym typeface="Poppins Bold"/>
              </a:rPr>
              <a:t>Model Comparison and Evaluation Strategy</a:t>
            </a:r>
          </a:p>
        </p:txBody>
      </p:sp>
      <p:sp>
        <p:nvSpPr>
          <p:cNvPr name="TextBox 7" id="7"/>
          <p:cNvSpPr txBox="true"/>
          <p:nvPr/>
        </p:nvSpPr>
        <p:spPr>
          <a:xfrm rot="0">
            <a:off x="597287" y="3399342"/>
            <a:ext cx="7401197" cy="5627705"/>
          </a:xfrm>
          <a:prstGeom prst="rect">
            <a:avLst/>
          </a:prstGeom>
        </p:spPr>
        <p:txBody>
          <a:bodyPr anchor="t" rtlCol="false" tIns="0" lIns="0" bIns="0" rIns="0">
            <a:spAutoFit/>
          </a:bodyPr>
          <a:lstStyle/>
          <a:p>
            <a:pPr algn="l">
              <a:lnSpc>
                <a:spcPts val="4103"/>
              </a:lnSpc>
            </a:pPr>
            <a:r>
              <a:rPr lang="en-US" sz="2930" spc="-58" b="true">
                <a:solidFill>
                  <a:srgbClr val="FFFFFF"/>
                </a:solidFill>
                <a:latin typeface="Poppins Bold"/>
                <a:ea typeface="Poppins Bold"/>
                <a:cs typeface="Poppins Bold"/>
                <a:sym typeface="Poppins Bold"/>
              </a:rPr>
              <a:t>Key Metrics (Business-Aligned)</a:t>
            </a:r>
          </a:p>
          <a:p>
            <a:pPr algn="l">
              <a:lnSpc>
                <a:spcPts val="3683"/>
              </a:lnSpc>
            </a:pPr>
          </a:p>
          <a:p>
            <a:pPr algn="l" marL="568026" indent="-284013" lvl="1">
              <a:lnSpc>
                <a:spcPts val="3683"/>
              </a:lnSpc>
              <a:buFont typeface="Arial"/>
              <a:buChar char="•"/>
            </a:pPr>
            <a:r>
              <a:rPr lang="en-US" b="true" sz="2630" spc="-52">
                <a:solidFill>
                  <a:srgbClr val="FFFFFF"/>
                </a:solidFill>
                <a:latin typeface="Poppins Bold"/>
                <a:ea typeface="Poppins Bold"/>
                <a:cs typeface="Poppins Bold"/>
                <a:sym typeface="Poppins Bold"/>
              </a:rPr>
              <a:t>Recall (Class 1) → </a:t>
            </a:r>
            <a:r>
              <a:rPr lang="en-US" sz="2630" spc="-52">
                <a:solidFill>
                  <a:srgbClr val="FFFFFF"/>
                </a:solidFill>
                <a:latin typeface="Poppins"/>
                <a:ea typeface="Poppins"/>
                <a:cs typeface="Poppins"/>
                <a:sym typeface="Poppins"/>
              </a:rPr>
              <a:t>% of actual claimants captured (business priority)</a:t>
            </a:r>
          </a:p>
          <a:p>
            <a:pPr algn="l" marL="568026" indent="-284013" lvl="1">
              <a:lnSpc>
                <a:spcPts val="3683"/>
              </a:lnSpc>
              <a:buFont typeface="Arial"/>
              <a:buChar char="•"/>
            </a:pPr>
            <a:r>
              <a:rPr lang="en-US" b="true" sz="2630" spc="-52">
                <a:solidFill>
                  <a:srgbClr val="FFFFFF"/>
                </a:solidFill>
                <a:latin typeface="Poppins Bold"/>
                <a:ea typeface="Poppins Bold"/>
                <a:cs typeface="Poppins Bold"/>
                <a:sym typeface="Poppins Bold"/>
              </a:rPr>
              <a:t>ROC-AUC →</a:t>
            </a:r>
            <a:r>
              <a:rPr lang="en-US" sz="2630" spc="-52">
                <a:solidFill>
                  <a:srgbClr val="FFFFFF"/>
                </a:solidFill>
                <a:latin typeface="Poppins"/>
                <a:ea typeface="Poppins"/>
                <a:cs typeface="Poppins"/>
                <a:sym typeface="Poppins"/>
              </a:rPr>
              <a:t> Overall ability to rank claimants </a:t>
            </a:r>
          </a:p>
          <a:p>
            <a:pPr algn="l" marL="568026" indent="-284013" lvl="1">
              <a:lnSpc>
                <a:spcPts val="3683"/>
              </a:lnSpc>
              <a:buFont typeface="Arial"/>
              <a:buChar char="•"/>
            </a:pPr>
            <a:r>
              <a:rPr lang="en-US" b="true" sz="2630" spc="-52">
                <a:solidFill>
                  <a:srgbClr val="FFFFFF"/>
                </a:solidFill>
                <a:latin typeface="Poppins Bold"/>
                <a:ea typeface="Poppins Bold"/>
                <a:cs typeface="Poppins Bold"/>
                <a:sym typeface="Poppins Bold"/>
              </a:rPr>
              <a:t>F1-Score (Class 1) → </a:t>
            </a:r>
            <a:r>
              <a:rPr lang="en-US" sz="2630" spc="-52">
                <a:solidFill>
                  <a:srgbClr val="FFFFFF"/>
                </a:solidFill>
                <a:latin typeface="Poppins"/>
                <a:ea typeface="Poppins"/>
                <a:cs typeface="Poppins"/>
                <a:sym typeface="Poppins"/>
              </a:rPr>
              <a:t>Trade-off between catching claims and avoiding false alarms</a:t>
            </a:r>
          </a:p>
          <a:p>
            <a:pPr algn="l" marL="568026" indent="-284013" lvl="1">
              <a:lnSpc>
                <a:spcPts val="3683"/>
              </a:lnSpc>
              <a:buFont typeface="Arial"/>
              <a:buChar char="•"/>
            </a:pPr>
            <a:r>
              <a:rPr lang="en-US" b="true" sz="2630" spc="-52">
                <a:solidFill>
                  <a:srgbClr val="FFFFFF"/>
                </a:solidFill>
                <a:latin typeface="Poppins Bold"/>
                <a:ea typeface="Poppins Bold"/>
                <a:cs typeface="Poppins Bold"/>
                <a:sym typeface="Poppins Bold"/>
              </a:rPr>
              <a:t>Accuracy → </a:t>
            </a:r>
            <a:r>
              <a:rPr lang="en-US" sz="2630" spc="-52">
                <a:solidFill>
                  <a:srgbClr val="FFFFFF"/>
                </a:solidFill>
                <a:latin typeface="Poppins"/>
                <a:ea typeface="Poppins"/>
                <a:cs typeface="Poppins"/>
                <a:sym typeface="Poppins"/>
              </a:rPr>
              <a:t>Misleading in imbalanced datasets; not prioritized</a:t>
            </a:r>
          </a:p>
          <a:p>
            <a:pPr algn="l" marL="0" indent="0" lvl="0">
              <a:lnSpc>
                <a:spcPts val="3403"/>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595820" y="-1782102"/>
            <a:ext cx="3564204" cy="35642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659630" y="7300638"/>
            <a:ext cx="6728350" cy="672835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31055" y="9056170"/>
            <a:ext cx="12900301" cy="804823"/>
          </a:xfrm>
          <a:custGeom>
            <a:avLst/>
            <a:gdLst/>
            <a:ahLst/>
            <a:cxnLst/>
            <a:rect r="r" b="b" t="t" l="l"/>
            <a:pathLst>
              <a:path h="804823" w="12900301">
                <a:moveTo>
                  <a:pt x="0" y="0"/>
                </a:moveTo>
                <a:lnTo>
                  <a:pt x="12900301" y="0"/>
                </a:lnTo>
                <a:lnTo>
                  <a:pt x="12900301" y="804823"/>
                </a:lnTo>
                <a:lnTo>
                  <a:pt x="0" y="804823"/>
                </a:lnTo>
                <a:lnTo>
                  <a:pt x="0" y="0"/>
                </a:lnTo>
                <a:close/>
              </a:path>
            </a:pathLst>
          </a:custGeom>
          <a:blipFill>
            <a:blip r:embed="rId2"/>
            <a:stretch>
              <a:fillRect l="0" t="-216567" r="0" b="0"/>
            </a:stretch>
          </a:blipFill>
        </p:spPr>
      </p:sp>
      <p:grpSp>
        <p:nvGrpSpPr>
          <p:cNvPr name="Group 9" id="9"/>
          <p:cNvGrpSpPr/>
          <p:nvPr/>
        </p:nvGrpSpPr>
        <p:grpSpPr>
          <a:xfrm rot="0">
            <a:off x="2847977" y="5359410"/>
            <a:ext cx="12883379" cy="3732146"/>
            <a:chOff x="0" y="0"/>
            <a:chExt cx="2999100" cy="868800"/>
          </a:xfrm>
        </p:grpSpPr>
        <p:sp>
          <p:nvSpPr>
            <p:cNvPr name="Freeform 10" id="10"/>
            <p:cNvSpPr/>
            <p:nvPr/>
          </p:nvSpPr>
          <p:spPr>
            <a:xfrm flipH="false" flipV="false" rot="0">
              <a:off x="0" y="0"/>
              <a:ext cx="2999100" cy="868800"/>
            </a:xfrm>
            <a:custGeom>
              <a:avLst/>
              <a:gdLst/>
              <a:ahLst/>
              <a:cxnLst/>
              <a:rect r="r" b="b" t="t" l="l"/>
              <a:pathLst>
                <a:path h="868800" w="2999100">
                  <a:moveTo>
                    <a:pt x="8413" y="0"/>
                  </a:moveTo>
                  <a:lnTo>
                    <a:pt x="2990687" y="0"/>
                  </a:lnTo>
                  <a:cubicBezTo>
                    <a:pt x="2992918" y="0"/>
                    <a:pt x="2995058" y="886"/>
                    <a:pt x="2996636" y="2464"/>
                  </a:cubicBezTo>
                  <a:cubicBezTo>
                    <a:pt x="2998213" y="4042"/>
                    <a:pt x="2999100" y="6182"/>
                    <a:pt x="2999100" y="8413"/>
                  </a:cubicBezTo>
                  <a:lnTo>
                    <a:pt x="2999100" y="860387"/>
                  </a:lnTo>
                  <a:cubicBezTo>
                    <a:pt x="2999100" y="862618"/>
                    <a:pt x="2998213" y="864758"/>
                    <a:pt x="2996636" y="866336"/>
                  </a:cubicBezTo>
                  <a:cubicBezTo>
                    <a:pt x="2995058" y="867913"/>
                    <a:pt x="2992918" y="868800"/>
                    <a:pt x="2990687" y="868800"/>
                  </a:cubicBezTo>
                  <a:lnTo>
                    <a:pt x="8413" y="868800"/>
                  </a:lnTo>
                  <a:cubicBezTo>
                    <a:pt x="3767" y="868800"/>
                    <a:pt x="0" y="865033"/>
                    <a:pt x="0" y="860387"/>
                  </a:cubicBezTo>
                  <a:lnTo>
                    <a:pt x="0" y="8413"/>
                  </a:lnTo>
                  <a:cubicBezTo>
                    <a:pt x="0" y="6182"/>
                    <a:pt x="886" y="4042"/>
                    <a:pt x="2464" y="2464"/>
                  </a:cubicBezTo>
                  <a:cubicBezTo>
                    <a:pt x="4042" y="886"/>
                    <a:pt x="6182" y="0"/>
                    <a:pt x="8413" y="0"/>
                  </a:cubicBezTo>
                  <a:close/>
                </a:path>
              </a:pathLst>
            </a:custGeom>
            <a:solidFill>
              <a:srgbClr val="00569E"/>
            </a:solidFill>
          </p:spPr>
        </p:sp>
        <p:sp>
          <p:nvSpPr>
            <p:cNvPr name="TextBox 11" id="11"/>
            <p:cNvSpPr txBox="true"/>
            <p:nvPr/>
          </p:nvSpPr>
          <p:spPr>
            <a:xfrm>
              <a:off x="0" y="-57150"/>
              <a:ext cx="2999100" cy="9259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6678011" y="4816482"/>
            <a:ext cx="4931978" cy="1219671"/>
            <a:chOff x="0" y="0"/>
            <a:chExt cx="1593394" cy="394044"/>
          </a:xfrm>
        </p:grpSpPr>
        <p:sp>
          <p:nvSpPr>
            <p:cNvPr name="Freeform 13" id="13"/>
            <p:cNvSpPr/>
            <p:nvPr/>
          </p:nvSpPr>
          <p:spPr>
            <a:xfrm flipH="false" flipV="false" rot="0">
              <a:off x="0" y="0"/>
              <a:ext cx="1593394" cy="394044"/>
            </a:xfrm>
            <a:custGeom>
              <a:avLst/>
              <a:gdLst/>
              <a:ahLst/>
              <a:cxnLst/>
              <a:rect r="r" b="b" t="t" l="l"/>
              <a:pathLst>
                <a:path h="394044" w="1593394">
                  <a:moveTo>
                    <a:pt x="72208" y="0"/>
                  </a:moveTo>
                  <a:lnTo>
                    <a:pt x="1521186" y="0"/>
                  </a:lnTo>
                  <a:cubicBezTo>
                    <a:pt x="1561065" y="0"/>
                    <a:pt x="1593394" y="32329"/>
                    <a:pt x="1593394" y="72208"/>
                  </a:cubicBezTo>
                  <a:lnTo>
                    <a:pt x="1593394" y="321836"/>
                  </a:lnTo>
                  <a:cubicBezTo>
                    <a:pt x="1593394" y="361715"/>
                    <a:pt x="1561065" y="394044"/>
                    <a:pt x="1521186" y="394044"/>
                  </a:cubicBezTo>
                  <a:lnTo>
                    <a:pt x="72208" y="394044"/>
                  </a:lnTo>
                  <a:cubicBezTo>
                    <a:pt x="32329" y="394044"/>
                    <a:pt x="0" y="361715"/>
                    <a:pt x="0" y="321836"/>
                  </a:cubicBezTo>
                  <a:lnTo>
                    <a:pt x="0" y="72208"/>
                  </a:lnTo>
                  <a:cubicBezTo>
                    <a:pt x="0" y="32329"/>
                    <a:pt x="32329" y="0"/>
                    <a:pt x="72208"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4" id="14"/>
            <p:cNvSpPr txBox="true"/>
            <p:nvPr/>
          </p:nvSpPr>
          <p:spPr>
            <a:xfrm>
              <a:off x="0" y="-114300"/>
              <a:ext cx="1593394" cy="508344"/>
            </a:xfrm>
            <a:prstGeom prst="rect">
              <a:avLst/>
            </a:prstGeom>
          </p:spPr>
          <p:txBody>
            <a:bodyPr anchor="ctr" rtlCol="false" tIns="0" lIns="0" bIns="0" rIns="0"/>
            <a:lstStyle/>
            <a:p>
              <a:pPr algn="ctr" marL="0" indent="0" lvl="0">
                <a:lnSpc>
                  <a:spcPts val="6000"/>
                </a:lnSpc>
                <a:spcBef>
                  <a:spcPct val="0"/>
                </a:spcBef>
              </a:pPr>
              <a:r>
                <a:rPr lang="en-US" b="true" sz="4286">
                  <a:solidFill>
                    <a:srgbClr val="FFFFFF"/>
                  </a:solidFill>
                  <a:latin typeface="Poppins Bold"/>
                  <a:ea typeface="Poppins Bold"/>
                  <a:cs typeface="Poppins Bold"/>
                  <a:sym typeface="Poppins Bold"/>
                </a:rPr>
                <a:t>Recall</a:t>
              </a:r>
            </a:p>
          </p:txBody>
        </p:sp>
      </p:grpSp>
      <p:graphicFrame>
        <p:nvGraphicFramePr>
          <p:cNvPr name="Table 15" id="15"/>
          <p:cNvGraphicFramePr>
            <a:graphicFrameLocks noGrp="true"/>
          </p:cNvGraphicFramePr>
          <p:nvPr/>
        </p:nvGraphicFramePr>
        <p:xfrm>
          <a:off x="3453060" y="2167895"/>
          <a:ext cx="11656291" cy="1962150"/>
        </p:xfrm>
        <a:graphic>
          <a:graphicData uri="http://schemas.openxmlformats.org/drawingml/2006/table">
            <a:tbl>
              <a:tblPr/>
              <a:tblGrid>
                <a:gridCol w="2331258"/>
                <a:gridCol w="2331258"/>
                <a:gridCol w="2331258"/>
                <a:gridCol w="2331258"/>
                <a:gridCol w="2331258"/>
              </a:tblGrid>
              <a:tr h="981075">
                <a:tc>
                  <a:txBody>
                    <a:bodyPr anchor="t" rtlCol="false"/>
                    <a:lstStyle/>
                    <a:p>
                      <a:pPr algn="ctr">
                        <a:lnSpc>
                          <a:spcPts val="2783"/>
                        </a:lnSpc>
                        <a:defRPr/>
                      </a:pPr>
                      <a:r>
                        <a:rPr lang="en-US" sz="1987" b="true">
                          <a:solidFill>
                            <a:srgbClr val="FDFDFD"/>
                          </a:solidFill>
                          <a:latin typeface="Poppins Bold"/>
                          <a:ea typeface="Poppins Bold"/>
                          <a:cs typeface="Poppins Bold"/>
                          <a:sym typeface="Poppins Bold"/>
                        </a:rPr>
                        <a:t>ROC-AUC</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145DA0"/>
                    </a:solidFill>
                  </a:tcPr>
                </a:tc>
                <a:tc>
                  <a:txBody>
                    <a:bodyPr anchor="t" rtlCol="false"/>
                    <a:lstStyle/>
                    <a:p>
                      <a:pPr algn="ctr">
                        <a:lnSpc>
                          <a:spcPts val="2783"/>
                        </a:lnSpc>
                        <a:defRPr/>
                      </a:pPr>
                      <a:r>
                        <a:rPr lang="en-US" sz="1987" b="true">
                          <a:solidFill>
                            <a:srgbClr val="FDFDFD"/>
                          </a:solidFill>
                          <a:latin typeface="Poppins Bold"/>
                          <a:ea typeface="Poppins Bold"/>
                          <a:cs typeface="Poppins Bold"/>
                          <a:sym typeface="Poppins Bold"/>
                        </a:rPr>
                        <a:t>Precision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145DA0"/>
                    </a:solidFill>
                  </a:tcPr>
                </a:tc>
                <a:tc>
                  <a:txBody>
                    <a:bodyPr anchor="t" rtlCol="false"/>
                    <a:lstStyle/>
                    <a:p>
                      <a:pPr algn="ctr">
                        <a:lnSpc>
                          <a:spcPts val="2783"/>
                        </a:lnSpc>
                        <a:defRPr/>
                      </a:pPr>
                      <a:r>
                        <a:rPr lang="en-US" sz="1987" b="true">
                          <a:solidFill>
                            <a:srgbClr val="FDFDFD"/>
                          </a:solidFill>
                          <a:latin typeface="Poppins Bold"/>
                          <a:ea typeface="Poppins Bold"/>
                          <a:cs typeface="Poppins Bold"/>
                          <a:sym typeface="Poppins Bold"/>
                        </a:rPr>
                        <a:t>*Recall*</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145DA0"/>
                    </a:solidFill>
                  </a:tcPr>
                </a:tc>
                <a:tc>
                  <a:txBody>
                    <a:bodyPr anchor="t" rtlCol="false"/>
                    <a:lstStyle/>
                    <a:p>
                      <a:pPr algn="ctr">
                        <a:lnSpc>
                          <a:spcPts val="2783"/>
                        </a:lnSpc>
                        <a:defRPr/>
                      </a:pPr>
                      <a:r>
                        <a:rPr lang="en-US" sz="1987" b="true">
                          <a:solidFill>
                            <a:srgbClr val="FDFDFD"/>
                          </a:solidFill>
                          <a:latin typeface="Poppins Bold"/>
                          <a:ea typeface="Poppins Bold"/>
                          <a:cs typeface="Poppins Bold"/>
                          <a:sym typeface="Poppins Bold"/>
                        </a:rPr>
                        <a:t>F1-Score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145DA0"/>
                    </a:solidFill>
                  </a:tcPr>
                </a:tc>
                <a:tc>
                  <a:txBody>
                    <a:bodyPr anchor="t" rtlCol="false"/>
                    <a:lstStyle/>
                    <a:p>
                      <a:pPr algn="ctr">
                        <a:lnSpc>
                          <a:spcPts val="2783"/>
                        </a:lnSpc>
                        <a:defRPr/>
                      </a:pPr>
                      <a:r>
                        <a:rPr lang="en-US" sz="1987" b="true">
                          <a:solidFill>
                            <a:srgbClr val="FDFDFD"/>
                          </a:solidFill>
                          <a:latin typeface="Poppins Bold"/>
                          <a:ea typeface="Poppins Bold"/>
                          <a:cs typeface="Poppins Bold"/>
                          <a:sym typeface="Poppins Bold"/>
                        </a:rPr>
                        <a:t>Accuracy</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145DA0"/>
                    </a:solidFill>
                  </a:tcPr>
                </a:tc>
              </a:tr>
              <a:tr h="981075">
                <a:tc>
                  <a:txBody>
                    <a:bodyPr anchor="t" rtlCol="false"/>
                    <a:lstStyle/>
                    <a:p>
                      <a:pPr algn="ctr">
                        <a:lnSpc>
                          <a:spcPts val="2643"/>
                        </a:lnSpc>
                        <a:defRPr/>
                      </a:pPr>
                      <a:r>
                        <a:rPr lang="en-US" sz="1887" b="true">
                          <a:solidFill>
                            <a:srgbClr val="145DA0"/>
                          </a:solidFill>
                          <a:latin typeface="Poppins Bold"/>
                          <a:ea typeface="Poppins Bold"/>
                          <a:cs typeface="Poppins Bold"/>
                          <a:sym typeface="Poppins Bold"/>
                        </a:rPr>
                        <a:t>0.0.73717371</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643"/>
                        </a:lnSpc>
                        <a:defRPr/>
                      </a:pPr>
                      <a:r>
                        <a:rPr lang="en-US" sz="1887" b="true">
                          <a:solidFill>
                            <a:srgbClr val="145DA0"/>
                          </a:solidFill>
                          <a:latin typeface="Poppins Bold"/>
                          <a:ea typeface="Poppins Bold"/>
                          <a:cs typeface="Poppins Bold"/>
                          <a:sym typeface="Poppins Bold"/>
                        </a:rPr>
                        <a:t>0.20</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643"/>
                        </a:lnSpc>
                        <a:defRPr/>
                      </a:pPr>
                      <a:r>
                        <a:rPr lang="en-US" sz="1887" b="true">
                          <a:solidFill>
                            <a:srgbClr val="145DA0"/>
                          </a:solidFill>
                          <a:latin typeface="Poppins Bold"/>
                          <a:ea typeface="Poppins Bold"/>
                          <a:cs typeface="Poppins Bold"/>
                          <a:sym typeface="Poppins Bold"/>
                        </a:rPr>
                        <a:t>0.69</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643"/>
                        </a:lnSpc>
                        <a:defRPr/>
                      </a:pPr>
                      <a:r>
                        <a:rPr lang="en-US" sz="1887" b="true">
                          <a:solidFill>
                            <a:srgbClr val="145DA0"/>
                          </a:solidFill>
                          <a:latin typeface="Poppins Bold"/>
                          <a:ea typeface="Poppins Bold"/>
                          <a:cs typeface="Poppins Bold"/>
                          <a:sym typeface="Poppins Bold"/>
                        </a:rPr>
                        <a:t>0.31</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643"/>
                        </a:lnSpc>
                        <a:defRPr/>
                      </a:pPr>
                      <a:r>
                        <a:rPr lang="en-US" sz="1887" b="true">
                          <a:solidFill>
                            <a:srgbClr val="145DA0"/>
                          </a:solidFill>
                          <a:latin typeface="Poppins Bold"/>
                          <a:ea typeface="Poppins Bold"/>
                          <a:cs typeface="Poppins Bold"/>
                          <a:sym typeface="Poppins Bold"/>
                        </a:rPr>
                        <a:t>0.66</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bl>
          </a:graphicData>
        </a:graphic>
      </p:graphicFrame>
      <p:sp>
        <p:nvSpPr>
          <p:cNvPr name="TextBox 16" id="16"/>
          <p:cNvSpPr txBox="true"/>
          <p:nvPr/>
        </p:nvSpPr>
        <p:spPr>
          <a:xfrm rot="0">
            <a:off x="2847977" y="625028"/>
            <a:ext cx="8963446" cy="928306"/>
          </a:xfrm>
          <a:prstGeom prst="rect">
            <a:avLst/>
          </a:prstGeom>
        </p:spPr>
        <p:txBody>
          <a:bodyPr anchor="t" rtlCol="false" tIns="0" lIns="0" bIns="0" rIns="0">
            <a:spAutoFit/>
          </a:bodyPr>
          <a:lstStyle/>
          <a:p>
            <a:pPr algn="l" marL="0" indent="0" lvl="0">
              <a:lnSpc>
                <a:spcPts val="7127"/>
              </a:lnSpc>
              <a:spcBef>
                <a:spcPct val="0"/>
              </a:spcBef>
            </a:pPr>
            <a:r>
              <a:rPr lang="en-US" b="true" sz="5091">
                <a:solidFill>
                  <a:srgbClr val="051D40"/>
                </a:solidFill>
                <a:latin typeface="Poppins Bold"/>
                <a:ea typeface="Poppins Bold"/>
                <a:cs typeface="Poppins Bold"/>
                <a:sym typeface="Poppins Bold"/>
              </a:rPr>
              <a:t>XGBoost</a:t>
            </a:r>
          </a:p>
        </p:txBody>
      </p:sp>
      <p:sp>
        <p:nvSpPr>
          <p:cNvPr name="TextBox 17" id="17"/>
          <p:cNvSpPr txBox="true"/>
          <p:nvPr/>
        </p:nvSpPr>
        <p:spPr>
          <a:xfrm rot="0">
            <a:off x="4514212" y="6248166"/>
            <a:ext cx="9533986" cy="2538841"/>
          </a:xfrm>
          <a:prstGeom prst="rect">
            <a:avLst/>
          </a:prstGeom>
        </p:spPr>
        <p:txBody>
          <a:bodyPr anchor="t" rtlCol="false" tIns="0" lIns="0" bIns="0" rIns="0">
            <a:spAutoFit/>
          </a:bodyPr>
          <a:lstStyle/>
          <a:p>
            <a:pPr algn="ctr">
              <a:lnSpc>
                <a:spcPts val="2863"/>
              </a:lnSpc>
              <a:spcBef>
                <a:spcPct val="0"/>
              </a:spcBef>
            </a:pPr>
            <a:r>
              <a:rPr lang="en-US" b="true" sz="2045" spc="-40" strike="noStrike" u="none">
                <a:solidFill>
                  <a:srgbClr val="FDFDFD"/>
                </a:solidFill>
                <a:latin typeface="Poppins Bold"/>
                <a:ea typeface="Poppins Bold"/>
                <a:cs typeface="Poppins Bold"/>
                <a:sym typeface="Poppins Bold"/>
              </a:rPr>
              <a:t>Ability to catch actual claims</a:t>
            </a:r>
          </a:p>
          <a:p>
            <a:pPr algn="ctr">
              <a:lnSpc>
                <a:spcPts val="2863"/>
              </a:lnSpc>
              <a:spcBef>
                <a:spcPct val="0"/>
              </a:spcBef>
            </a:pPr>
          </a:p>
          <a:p>
            <a:pPr algn="l" marL="441652" indent="-220826" lvl="1">
              <a:lnSpc>
                <a:spcPts val="2863"/>
              </a:lnSpc>
              <a:spcBef>
                <a:spcPct val="0"/>
              </a:spcBef>
              <a:buFont typeface="Arial"/>
              <a:buChar char="•"/>
            </a:pPr>
            <a:r>
              <a:rPr lang="en-US" sz="2045" spc="-40" strike="noStrike" u="none">
                <a:solidFill>
                  <a:srgbClr val="FDFDFD"/>
                </a:solidFill>
                <a:latin typeface="Poppins"/>
                <a:ea typeface="Poppins"/>
                <a:cs typeface="Poppins"/>
                <a:sym typeface="Poppins"/>
              </a:rPr>
              <a:t>Low recall means missed claims which leads to underpriced premiums</a:t>
            </a:r>
          </a:p>
          <a:p>
            <a:pPr algn="l" marL="441652" indent="-220826" lvl="1">
              <a:lnSpc>
                <a:spcPts val="2863"/>
              </a:lnSpc>
              <a:spcBef>
                <a:spcPct val="0"/>
              </a:spcBef>
              <a:buFont typeface="Arial"/>
              <a:buChar char="•"/>
            </a:pPr>
            <a:r>
              <a:rPr lang="en-US" sz="2045" spc="-40" strike="noStrike" u="none">
                <a:solidFill>
                  <a:srgbClr val="FDFDFD"/>
                </a:solidFill>
                <a:latin typeface="Poppins"/>
                <a:ea typeface="Poppins"/>
                <a:cs typeface="Poppins"/>
                <a:sym typeface="Poppins"/>
              </a:rPr>
              <a:t>Better to flag a few non-claims than miss real claims</a:t>
            </a:r>
          </a:p>
          <a:p>
            <a:pPr algn="l" marL="441652" indent="-220826" lvl="1">
              <a:lnSpc>
                <a:spcPts val="2863"/>
              </a:lnSpc>
              <a:spcBef>
                <a:spcPct val="0"/>
              </a:spcBef>
              <a:buFont typeface="Arial"/>
              <a:buChar char="•"/>
            </a:pPr>
            <a:r>
              <a:rPr lang="en-US" sz="2045" spc="-40" strike="noStrike" u="none">
                <a:solidFill>
                  <a:srgbClr val="FDFDFD"/>
                </a:solidFill>
                <a:latin typeface="Poppins"/>
                <a:ea typeface="Poppins"/>
                <a:cs typeface="Poppins"/>
                <a:sym typeface="Poppins"/>
              </a:rPr>
              <a:t>M</a:t>
            </a:r>
            <a:r>
              <a:rPr lang="en-US" sz="2045" spc="-40" strike="noStrike" u="none">
                <a:solidFill>
                  <a:srgbClr val="FDFDFD"/>
                </a:solidFill>
                <a:latin typeface="Poppins"/>
                <a:ea typeface="Poppins"/>
                <a:cs typeface="Poppins"/>
                <a:sym typeface="Poppins"/>
              </a:rPr>
              <a:t>ost effective at identifying high-risk policyholders</a:t>
            </a:r>
          </a:p>
          <a:p>
            <a:pPr algn="l" marL="441652" indent="-220826" lvl="1">
              <a:lnSpc>
                <a:spcPts val="2863"/>
              </a:lnSpc>
              <a:spcBef>
                <a:spcPct val="0"/>
              </a:spcBef>
              <a:buFont typeface="Arial"/>
              <a:buChar char="•"/>
            </a:pPr>
            <a:r>
              <a:rPr lang="en-US" sz="2045" spc="-40" strike="noStrike" u="none">
                <a:solidFill>
                  <a:srgbClr val="FDFDFD"/>
                </a:solidFill>
                <a:latin typeface="Poppins"/>
                <a:ea typeface="Poppins"/>
                <a:cs typeface="Poppins"/>
                <a:sym typeface="Poppins"/>
              </a:rPr>
              <a:t>Supports accurate risk pricing and reduces adverse selection</a:t>
            </a:r>
          </a:p>
          <a:p>
            <a:pPr algn="l" marL="0" indent="0" lvl="0">
              <a:lnSpc>
                <a:spcPts val="2863"/>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28700" y="1193947"/>
            <a:ext cx="7523780" cy="7546156"/>
            <a:chOff x="0" y="0"/>
            <a:chExt cx="2106826" cy="2113092"/>
          </a:xfrm>
        </p:grpSpPr>
        <p:sp>
          <p:nvSpPr>
            <p:cNvPr name="Freeform 3" id="3"/>
            <p:cNvSpPr/>
            <p:nvPr/>
          </p:nvSpPr>
          <p:spPr>
            <a:xfrm flipH="false" flipV="false" rot="0">
              <a:off x="0" y="0"/>
              <a:ext cx="2106826" cy="2113092"/>
            </a:xfrm>
            <a:custGeom>
              <a:avLst/>
              <a:gdLst/>
              <a:ahLst/>
              <a:cxnLst/>
              <a:rect r="r" b="b" t="t" l="l"/>
              <a:pathLst>
                <a:path h="2113092" w="2106826">
                  <a:moveTo>
                    <a:pt x="0" y="0"/>
                  </a:moveTo>
                  <a:lnTo>
                    <a:pt x="2106826" y="0"/>
                  </a:lnTo>
                  <a:lnTo>
                    <a:pt x="2106826" y="2113092"/>
                  </a:lnTo>
                  <a:lnTo>
                    <a:pt x="0" y="2113092"/>
                  </a:lnTo>
                  <a:close/>
                </a:path>
              </a:pathLst>
            </a:custGeom>
            <a:solidFill>
              <a:srgbClr val="145DA0">
                <a:alpha val="95686"/>
              </a:srgbClr>
            </a:solidFill>
            <a:ln cap="sq">
              <a:noFill/>
              <a:prstDash val="solid"/>
              <a:miter/>
            </a:ln>
          </p:spPr>
        </p:sp>
        <p:sp>
          <p:nvSpPr>
            <p:cNvPr name="TextBox 4" id="4"/>
            <p:cNvSpPr txBox="true"/>
            <p:nvPr/>
          </p:nvSpPr>
          <p:spPr>
            <a:xfrm>
              <a:off x="0" y="-57150"/>
              <a:ext cx="2106826" cy="217024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8740103"/>
            <a:ext cx="7523780" cy="428991"/>
            <a:chOff x="0" y="0"/>
            <a:chExt cx="2106826" cy="120127"/>
          </a:xfrm>
        </p:grpSpPr>
        <p:sp>
          <p:nvSpPr>
            <p:cNvPr name="Freeform 6" id="6"/>
            <p:cNvSpPr/>
            <p:nvPr/>
          </p:nvSpPr>
          <p:spPr>
            <a:xfrm flipH="false" flipV="false" rot="0">
              <a:off x="0" y="0"/>
              <a:ext cx="2106826" cy="120127"/>
            </a:xfrm>
            <a:custGeom>
              <a:avLst/>
              <a:gdLst/>
              <a:ahLst/>
              <a:cxnLst/>
              <a:rect r="r" b="b" t="t" l="l"/>
              <a:pathLst>
                <a:path h="120127" w="2106826">
                  <a:moveTo>
                    <a:pt x="0" y="0"/>
                  </a:moveTo>
                  <a:lnTo>
                    <a:pt x="2106826" y="0"/>
                  </a:lnTo>
                  <a:lnTo>
                    <a:pt x="2106826" y="120127"/>
                  </a:lnTo>
                  <a:lnTo>
                    <a:pt x="0" y="120127"/>
                  </a:lnTo>
                  <a:close/>
                </a:path>
              </a:pathLst>
            </a:custGeom>
            <a:solidFill>
              <a:srgbClr val="145DA0">
                <a:alpha val="48627"/>
              </a:srgbClr>
            </a:solidFill>
            <a:ln cap="sq">
              <a:noFill/>
              <a:prstDash val="solid"/>
              <a:miter/>
            </a:ln>
          </p:spPr>
        </p:sp>
        <p:sp>
          <p:nvSpPr>
            <p:cNvPr name="TextBox 7" id="7"/>
            <p:cNvSpPr txBox="true"/>
            <p:nvPr/>
          </p:nvSpPr>
          <p:spPr>
            <a:xfrm>
              <a:off x="0" y="-57150"/>
              <a:ext cx="2106826" cy="17727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3724222" y="-4507687"/>
            <a:ext cx="5924489" cy="592448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1337957" y="710259"/>
            <a:ext cx="5959443" cy="8787195"/>
          </a:xfrm>
          <a:custGeom>
            <a:avLst/>
            <a:gdLst/>
            <a:ahLst/>
            <a:cxnLst/>
            <a:rect r="r" b="b" t="t" l="l"/>
            <a:pathLst>
              <a:path h="8787195" w="5959443">
                <a:moveTo>
                  <a:pt x="0" y="0"/>
                </a:moveTo>
                <a:lnTo>
                  <a:pt x="5959443" y="0"/>
                </a:lnTo>
                <a:lnTo>
                  <a:pt x="5959443" y="8787195"/>
                </a:lnTo>
                <a:lnTo>
                  <a:pt x="0" y="8787195"/>
                </a:lnTo>
                <a:lnTo>
                  <a:pt x="0" y="0"/>
                </a:lnTo>
                <a:close/>
              </a:path>
            </a:pathLst>
          </a:custGeom>
          <a:blipFill>
            <a:blip r:embed="rId2"/>
            <a:stretch>
              <a:fillRect l="-24226" t="0" r="0" b="0"/>
            </a:stretch>
          </a:blipFill>
        </p:spPr>
      </p:sp>
      <p:grpSp>
        <p:nvGrpSpPr>
          <p:cNvPr name="Group 12" id="12"/>
          <p:cNvGrpSpPr/>
          <p:nvPr/>
        </p:nvGrpSpPr>
        <p:grpSpPr>
          <a:xfrm rot="0">
            <a:off x="15238003" y="8290589"/>
            <a:ext cx="7523780" cy="75237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2200267" y="1537146"/>
            <a:ext cx="3889492" cy="1018684"/>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Poppins Bold"/>
                <a:ea typeface="Poppins Bold"/>
                <a:cs typeface="Poppins Bold"/>
                <a:sym typeface="Poppins Bold"/>
              </a:rPr>
              <a:t>SHAP</a:t>
            </a:r>
          </a:p>
        </p:txBody>
      </p:sp>
      <p:sp>
        <p:nvSpPr>
          <p:cNvPr name="TextBox 16" id="16"/>
          <p:cNvSpPr txBox="true"/>
          <p:nvPr/>
        </p:nvSpPr>
        <p:spPr>
          <a:xfrm rot="0">
            <a:off x="5500788" y="2674471"/>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 of Insurance Held</a:t>
            </a:r>
          </a:p>
        </p:txBody>
      </p:sp>
      <p:sp>
        <p:nvSpPr>
          <p:cNvPr name="TextBox 17" id="17"/>
          <p:cNvSpPr txBox="true"/>
          <p:nvPr/>
        </p:nvSpPr>
        <p:spPr>
          <a:xfrm rot="0">
            <a:off x="5500788" y="3059915"/>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Area</a:t>
            </a:r>
          </a:p>
        </p:txBody>
      </p:sp>
      <p:sp>
        <p:nvSpPr>
          <p:cNvPr name="TextBox 18" id="18"/>
          <p:cNvSpPr txBox="true"/>
          <p:nvPr/>
        </p:nvSpPr>
        <p:spPr>
          <a:xfrm rot="0">
            <a:off x="5500788" y="1155847"/>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Purchase Channel</a:t>
            </a:r>
          </a:p>
        </p:txBody>
      </p:sp>
      <p:sp>
        <p:nvSpPr>
          <p:cNvPr name="TextBox 19" id="19"/>
          <p:cNvSpPr txBox="true"/>
          <p:nvPr/>
        </p:nvSpPr>
        <p:spPr>
          <a:xfrm rot="0">
            <a:off x="5500788" y="152820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Payment Frequency</a:t>
            </a:r>
          </a:p>
        </p:txBody>
      </p:sp>
      <p:sp>
        <p:nvSpPr>
          <p:cNvPr name="TextBox 20" id="20"/>
          <p:cNvSpPr txBox="true"/>
          <p:nvPr/>
        </p:nvSpPr>
        <p:spPr>
          <a:xfrm rot="0">
            <a:off x="5500788" y="1906709"/>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 of Cancelled Policies</a:t>
            </a:r>
          </a:p>
        </p:txBody>
      </p:sp>
      <p:sp>
        <p:nvSpPr>
          <p:cNvPr name="TextBox 21" id="21"/>
          <p:cNvSpPr txBox="true"/>
          <p:nvPr/>
        </p:nvSpPr>
        <p:spPr>
          <a:xfrm rot="0">
            <a:off x="5500788" y="2296446"/>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 of Car Doors</a:t>
            </a:r>
          </a:p>
        </p:txBody>
      </p:sp>
      <p:sp>
        <p:nvSpPr>
          <p:cNvPr name="TextBox 22" id="22"/>
          <p:cNvSpPr txBox="true"/>
          <p:nvPr/>
        </p:nvSpPr>
        <p:spPr>
          <a:xfrm rot="0">
            <a:off x="5500788" y="344965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Years with Entity</a:t>
            </a:r>
          </a:p>
        </p:txBody>
      </p:sp>
      <p:sp>
        <p:nvSpPr>
          <p:cNvPr name="TextBox 23" id="23"/>
          <p:cNvSpPr txBox="true"/>
          <p:nvPr/>
        </p:nvSpPr>
        <p:spPr>
          <a:xfrm rot="0">
            <a:off x="5500788" y="3820340"/>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Policy Years</a:t>
            </a:r>
          </a:p>
        </p:txBody>
      </p:sp>
      <p:sp>
        <p:nvSpPr>
          <p:cNvPr name="TextBox 24" id="24"/>
          <p:cNvSpPr txBox="true"/>
          <p:nvPr/>
        </p:nvSpPr>
        <p:spPr>
          <a:xfrm rot="0">
            <a:off x="5500788" y="4191028"/>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Driving Years</a:t>
            </a:r>
          </a:p>
        </p:txBody>
      </p:sp>
      <p:sp>
        <p:nvSpPr>
          <p:cNvPr name="TextBox 25" id="25"/>
          <p:cNvSpPr txBox="true"/>
          <p:nvPr/>
        </p:nvSpPr>
        <p:spPr>
          <a:xfrm rot="0">
            <a:off x="5500788" y="4561716"/>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Single/Multiple Drivers</a:t>
            </a:r>
          </a:p>
        </p:txBody>
      </p:sp>
      <p:sp>
        <p:nvSpPr>
          <p:cNvPr name="TextBox 26" id="26"/>
          <p:cNvSpPr txBox="true"/>
          <p:nvPr/>
        </p:nvSpPr>
        <p:spPr>
          <a:xfrm rot="0">
            <a:off x="5500788" y="4951453"/>
            <a:ext cx="5754831" cy="265886"/>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Cylinder Capacity</a:t>
            </a:r>
          </a:p>
        </p:txBody>
      </p:sp>
      <p:sp>
        <p:nvSpPr>
          <p:cNvPr name="TextBox 27" id="27"/>
          <p:cNvSpPr txBox="true"/>
          <p:nvPr/>
        </p:nvSpPr>
        <p:spPr>
          <a:xfrm rot="0">
            <a:off x="5500788" y="5343499"/>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Net Premium</a:t>
            </a:r>
          </a:p>
        </p:txBody>
      </p:sp>
      <p:sp>
        <p:nvSpPr>
          <p:cNvPr name="TextBox 28" id="28"/>
          <p:cNvSpPr txBox="true"/>
          <p:nvPr/>
        </p:nvSpPr>
        <p:spPr>
          <a:xfrm rot="0">
            <a:off x="5500788" y="5714187"/>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Energy Source</a:t>
            </a:r>
          </a:p>
        </p:txBody>
      </p:sp>
      <p:sp>
        <p:nvSpPr>
          <p:cNvPr name="TextBox 29" id="29"/>
          <p:cNvSpPr txBox="true"/>
          <p:nvPr/>
        </p:nvSpPr>
        <p:spPr>
          <a:xfrm rot="0">
            <a:off x="5500788" y="6071568"/>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Type</a:t>
            </a:r>
          </a:p>
        </p:txBody>
      </p:sp>
      <p:sp>
        <p:nvSpPr>
          <p:cNvPr name="TextBox 30" id="30"/>
          <p:cNvSpPr txBox="true"/>
          <p:nvPr/>
        </p:nvSpPr>
        <p:spPr>
          <a:xfrm rot="0">
            <a:off x="5500788" y="6455341"/>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Max Policies In Force</a:t>
            </a:r>
          </a:p>
        </p:txBody>
      </p:sp>
      <p:sp>
        <p:nvSpPr>
          <p:cNvPr name="TextBox 31" id="31"/>
          <p:cNvSpPr txBox="true"/>
          <p:nvPr/>
        </p:nvSpPr>
        <p:spPr>
          <a:xfrm rot="0">
            <a:off x="5500788" y="6864915"/>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Market Value</a:t>
            </a:r>
          </a:p>
        </p:txBody>
      </p:sp>
      <p:sp>
        <p:nvSpPr>
          <p:cNvPr name="TextBox 32" id="32"/>
          <p:cNvSpPr txBox="true"/>
          <p:nvPr/>
        </p:nvSpPr>
        <p:spPr>
          <a:xfrm rot="0">
            <a:off x="5500788" y="7235603"/>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Max Policies Held</a:t>
            </a:r>
          </a:p>
        </p:txBody>
      </p:sp>
      <p:sp>
        <p:nvSpPr>
          <p:cNvPr name="TextBox 33" id="33"/>
          <p:cNvSpPr txBox="true"/>
          <p:nvPr/>
        </p:nvSpPr>
        <p:spPr>
          <a:xfrm rot="0">
            <a:off x="5500788" y="7625341"/>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Weight</a:t>
            </a:r>
          </a:p>
        </p:txBody>
      </p:sp>
      <p:sp>
        <p:nvSpPr>
          <p:cNvPr name="TextBox 34" id="34"/>
          <p:cNvSpPr txBox="true"/>
          <p:nvPr/>
        </p:nvSpPr>
        <p:spPr>
          <a:xfrm rot="0">
            <a:off x="5500788" y="7989329"/>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Vehicle Power</a:t>
            </a:r>
          </a:p>
        </p:txBody>
      </p:sp>
      <p:sp>
        <p:nvSpPr>
          <p:cNvPr name="TextBox 35" id="35"/>
          <p:cNvSpPr txBox="true"/>
          <p:nvPr/>
        </p:nvSpPr>
        <p:spPr>
          <a:xfrm rot="0">
            <a:off x="5500788" y="8340967"/>
            <a:ext cx="5754831" cy="265913"/>
          </a:xfrm>
          <a:prstGeom prst="rect">
            <a:avLst/>
          </a:prstGeom>
        </p:spPr>
        <p:txBody>
          <a:bodyPr anchor="t" rtlCol="false" tIns="0" lIns="0" bIns="0" rIns="0">
            <a:spAutoFit/>
          </a:bodyPr>
          <a:lstStyle/>
          <a:p>
            <a:pPr algn="r" marL="0" indent="0" lvl="0">
              <a:lnSpc>
                <a:spcPts val="2143"/>
              </a:lnSpc>
              <a:spcBef>
                <a:spcPct val="0"/>
              </a:spcBef>
            </a:pPr>
            <a:r>
              <a:rPr lang="en-US" sz="1530" spc="-30">
                <a:solidFill>
                  <a:srgbClr val="00569E"/>
                </a:solidFill>
                <a:latin typeface="Poppins"/>
                <a:ea typeface="Poppins"/>
                <a:cs typeface="Poppins"/>
                <a:sym typeface="Poppins"/>
              </a:rPr>
              <a:t>Driver Age</a:t>
            </a:r>
          </a:p>
        </p:txBody>
      </p:sp>
      <p:sp>
        <p:nvSpPr>
          <p:cNvPr name="TextBox 36" id="36"/>
          <p:cNvSpPr txBox="true"/>
          <p:nvPr/>
        </p:nvSpPr>
        <p:spPr>
          <a:xfrm rot="0">
            <a:off x="2030461" y="4873235"/>
            <a:ext cx="2370352" cy="357988"/>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P</a:t>
            </a:r>
            <a:r>
              <a:rPr lang="en-US" sz="2030" spc="-40" strike="noStrike" u="none">
                <a:solidFill>
                  <a:srgbClr val="FDFDFD"/>
                </a:solidFill>
                <a:latin typeface="Poppins"/>
                <a:ea typeface="Poppins"/>
                <a:cs typeface="Poppins"/>
                <a:sym typeface="Poppins"/>
              </a:rPr>
              <a:t>urchase Channel</a:t>
            </a:r>
          </a:p>
        </p:txBody>
      </p:sp>
      <p:sp>
        <p:nvSpPr>
          <p:cNvPr name="TextBox 37" id="37"/>
          <p:cNvSpPr txBox="true"/>
          <p:nvPr/>
        </p:nvSpPr>
        <p:spPr>
          <a:xfrm rot="0">
            <a:off x="4834837" y="4875191"/>
            <a:ext cx="3076942" cy="357988"/>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Paym</a:t>
            </a:r>
            <a:r>
              <a:rPr lang="en-US" sz="2030" spc="-40" strike="noStrike" u="none">
                <a:solidFill>
                  <a:srgbClr val="FDFDFD"/>
                </a:solidFill>
                <a:latin typeface="Poppins"/>
                <a:ea typeface="Poppins"/>
                <a:cs typeface="Poppins"/>
                <a:sym typeface="Poppins"/>
              </a:rPr>
              <a:t>ent Frequency</a:t>
            </a:r>
          </a:p>
        </p:txBody>
      </p:sp>
      <p:sp>
        <p:nvSpPr>
          <p:cNvPr name="TextBox 38" id="38"/>
          <p:cNvSpPr txBox="true"/>
          <p:nvPr/>
        </p:nvSpPr>
        <p:spPr>
          <a:xfrm rot="0">
            <a:off x="2030461" y="7534070"/>
            <a:ext cx="2370352" cy="357988"/>
          </a:xfrm>
          <a:prstGeom prst="rect">
            <a:avLst/>
          </a:prstGeom>
        </p:spPr>
        <p:txBody>
          <a:bodyPr anchor="t" rtlCol="false" tIns="0" lIns="0" bIns="0" rIns="0">
            <a:spAutoFit/>
          </a:bodyPr>
          <a:lstStyle/>
          <a:p>
            <a:pPr algn="ctr" marL="0" indent="0" lvl="0">
              <a:lnSpc>
                <a:spcPts val="2843"/>
              </a:lnSpc>
              <a:spcBef>
                <a:spcPct val="0"/>
              </a:spcBef>
            </a:pPr>
            <a:r>
              <a:rPr lang="en-US" sz="2030" spc="-40" strike="noStrike" u="none">
                <a:solidFill>
                  <a:srgbClr val="FDFDFD"/>
                </a:solidFill>
                <a:latin typeface="Poppins"/>
                <a:ea typeface="Poppins"/>
                <a:cs typeface="Poppins"/>
                <a:sym typeface="Poppins"/>
              </a:rPr>
              <a:t>Cancelled Policies</a:t>
            </a:r>
          </a:p>
        </p:txBody>
      </p:sp>
      <p:sp>
        <p:nvSpPr>
          <p:cNvPr name="TextBox 39" id="39"/>
          <p:cNvSpPr txBox="true"/>
          <p:nvPr/>
        </p:nvSpPr>
        <p:spPr>
          <a:xfrm rot="0">
            <a:off x="5188133" y="7517480"/>
            <a:ext cx="2370352" cy="710413"/>
          </a:xfrm>
          <a:prstGeom prst="rect">
            <a:avLst/>
          </a:prstGeom>
        </p:spPr>
        <p:txBody>
          <a:bodyPr anchor="t" rtlCol="false" tIns="0" lIns="0" bIns="0" rIns="0">
            <a:spAutoFit/>
          </a:bodyPr>
          <a:lstStyle/>
          <a:p>
            <a:pPr algn="ctr" marL="0" indent="0" lvl="0">
              <a:lnSpc>
                <a:spcPts val="2843"/>
              </a:lnSpc>
              <a:spcBef>
                <a:spcPct val="0"/>
              </a:spcBef>
            </a:pPr>
            <a:r>
              <a:rPr lang="en-US" sz="2030" spc="-40">
                <a:solidFill>
                  <a:srgbClr val="FDFDFD"/>
                </a:solidFill>
                <a:latin typeface="Poppins"/>
                <a:ea typeface="Poppins"/>
                <a:cs typeface="Poppins"/>
                <a:sym typeface="Poppins"/>
              </a:rPr>
              <a:t>Experience &amp; Duration</a:t>
            </a:r>
          </a:p>
        </p:txBody>
      </p:sp>
      <p:sp>
        <p:nvSpPr>
          <p:cNvPr name="Freeform 40" id="40"/>
          <p:cNvSpPr/>
          <p:nvPr/>
        </p:nvSpPr>
        <p:spPr>
          <a:xfrm flipH="false" flipV="false" rot="0">
            <a:off x="2597388" y="3858440"/>
            <a:ext cx="1236499" cy="858804"/>
          </a:xfrm>
          <a:custGeom>
            <a:avLst/>
            <a:gdLst/>
            <a:ahLst/>
            <a:cxnLst/>
            <a:rect r="r" b="b" t="t" l="l"/>
            <a:pathLst>
              <a:path h="858804" w="1236499">
                <a:moveTo>
                  <a:pt x="0" y="0"/>
                </a:moveTo>
                <a:lnTo>
                  <a:pt x="1236499" y="0"/>
                </a:lnTo>
                <a:lnTo>
                  <a:pt x="1236499" y="858805"/>
                </a:lnTo>
                <a:lnTo>
                  <a:pt x="0" y="8588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1" id="41"/>
          <p:cNvSpPr/>
          <p:nvPr/>
        </p:nvSpPr>
        <p:spPr>
          <a:xfrm flipH="false" flipV="false" rot="0">
            <a:off x="5970808" y="3858440"/>
            <a:ext cx="749502" cy="858804"/>
          </a:xfrm>
          <a:custGeom>
            <a:avLst/>
            <a:gdLst/>
            <a:ahLst/>
            <a:cxnLst/>
            <a:rect r="r" b="b" t="t" l="l"/>
            <a:pathLst>
              <a:path h="858804" w="749502">
                <a:moveTo>
                  <a:pt x="0" y="0"/>
                </a:moveTo>
                <a:lnTo>
                  <a:pt x="749502" y="0"/>
                </a:lnTo>
                <a:lnTo>
                  <a:pt x="749502" y="858805"/>
                </a:lnTo>
                <a:lnTo>
                  <a:pt x="0" y="8588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2" id="42"/>
          <p:cNvSpPr/>
          <p:nvPr/>
        </p:nvSpPr>
        <p:spPr>
          <a:xfrm flipH="false" flipV="false" rot="0">
            <a:off x="2751396" y="6368480"/>
            <a:ext cx="928483" cy="942187"/>
          </a:xfrm>
          <a:custGeom>
            <a:avLst/>
            <a:gdLst/>
            <a:ahLst/>
            <a:cxnLst/>
            <a:rect r="r" b="b" t="t" l="l"/>
            <a:pathLst>
              <a:path h="942187" w="928483">
                <a:moveTo>
                  <a:pt x="0" y="0"/>
                </a:moveTo>
                <a:lnTo>
                  <a:pt x="928483" y="0"/>
                </a:lnTo>
                <a:lnTo>
                  <a:pt x="928483" y="942188"/>
                </a:lnTo>
                <a:lnTo>
                  <a:pt x="0" y="9421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3" id="43"/>
          <p:cNvSpPr/>
          <p:nvPr/>
        </p:nvSpPr>
        <p:spPr>
          <a:xfrm flipH="false" flipV="false" rot="0">
            <a:off x="5926788" y="6286770"/>
            <a:ext cx="893040" cy="1072428"/>
          </a:xfrm>
          <a:custGeom>
            <a:avLst/>
            <a:gdLst/>
            <a:ahLst/>
            <a:cxnLst/>
            <a:rect r="r" b="b" t="t" l="l"/>
            <a:pathLst>
              <a:path h="1072428" w="893040">
                <a:moveTo>
                  <a:pt x="0" y="0"/>
                </a:moveTo>
                <a:lnTo>
                  <a:pt x="893041" y="0"/>
                </a:lnTo>
                <a:lnTo>
                  <a:pt x="893041" y="1072428"/>
                </a:lnTo>
                <a:lnTo>
                  <a:pt x="0" y="10724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44" id="44"/>
          <p:cNvSpPr txBox="true"/>
          <p:nvPr/>
        </p:nvSpPr>
        <p:spPr>
          <a:xfrm rot="0">
            <a:off x="2200267" y="2523681"/>
            <a:ext cx="7735704" cy="416702"/>
          </a:xfrm>
          <a:prstGeom prst="rect">
            <a:avLst/>
          </a:prstGeom>
        </p:spPr>
        <p:txBody>
          <a:bodyPr anchor="t" rtlCol="false" tIns="0" lIns="0" bIns="0" rIns="0">
            <a:spAutoFit/>
          </a:bodyPr>
          <a:lstStyle/>
          <a:p>
            <a:pPr algn="l" marL="0" indent="0" lvl="0">
              <a:lnSpc>
                <a:spcPts val="3282"/>
              </a:lnSpc>
              <a:spcBef>
                <a:spcPct val="0"/>
              </a:spcBef>
            </a:pPr>
            <a:r>
              <a:rPr lang="en-US" b="true" sz="2344">
                <a:solidFill>
                  <a:srgbClr val="FDFDFD"/>
                </a:solidFill>
                <a:latin typeface="Poppins Bold"/>
                <a:ea typeface="Poppins Bold"/>
                <a:cs typeface="Poppins Bold"/>
                <a:sym typeface="Poppins Bold"/>
              </a:rPr>
              <a:t>What Drives Claim Predictions?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47242" y="242294"/>
            <a:ext cx="17793515" cy="9802411"/>
            <a:chOff x="0" y="0"/>
            <a:chExt cx="4982580" cy="2744893"/>
          </a:xfrm>
        </p:grpSpPr>
        <p:sp>
          <p:nvSpPr>
            <p:cNvPr name="Freeform 3" id="3"/>
            <p:cNvSpPr/>
            <p:nvPr/>
          </p:nvSpPr>
          <p:spPr>
            <a:xfrm flipH="false" flipV="false" rot="0">
              <a:off x="0" y="0"/>
              <a:ext cx="4982580" cy="2744893"/>
            </a:xfrm>
            <a:custGeom>
              <a:avLst/>
              <a:gdLst/>
              <a:ahLst/>
              <a:cxnLst/>
              <a:rect r="r" b="b" t="t" l="l"/>
              <a:pathLst>
                <a:path h="2744893" w="4982580">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name="TextBox 4" id="4"/>
            <p:cNvSpPr txBox="true"/>
            <p:nvPr/>
          </p:nvSpPr>
          <p:spPr>
            <a:xfrm>
              <a:off x="0" y="-38100"/>
              <a:ext cx="4982580" cy="2782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297323"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6" id="6"/>
          <p:cNvGrpSpPr/>
          <p:nvPr/>
        </p:nvGrpSpPr>
        <p:grpSpPr>
          <a:xfrm rot="0">
            <a:off x="2272544" y="2466355"/>
            <a:ext cx="4203375" cy="5973865"/>
            <a:chOff x="0" y="0"/>
            <a:chExt cx="1416547" cy="2013207"/>
          </a:xfrm>
        </p:grpSpPr>
        <p:sp>
          <p:nvSpPr>
            <p:cNvPr name="Freeform 7" id="7"/>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8" id="8"/>
            <p:cNvSpPr txBox="true"/>
            <p:nvPr/>
          </p:nvSpPr>
          <p:spPr>
            <a:xfrm>
              <a:off x="0" y="-57150"/>
              <a:ext cx="1416547" cy="20703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9" id="9"/>
          <p:cNvSpPr/>
          <p:nvPr/>
        </p:nvSpPr>
        <p:spPr>
          <a:xfrm>
            <a:off x="2297323" y="5227111"/>
            <a:ext cx="4154377" cy="0"/>
          </a:xfrm>
          <a:prstGeom prst="line">
            <a:avLst/>
          </a:prstGeom>
          <a:ln cap="flat" w="38100">
            <a:solidFill>
              <a:srgbClr val="145DA0"/>
            </a:solidFill>
            <a:prstDash val="solid"/>
            <a:headEnd type="none" len="sm" w="sm"/>
            <a:tailEnd type="none" len="sm" w="sm"/>
          </a:ln>
        </p:spPr>
      </p:sp>
      <p:sp>
        <p:nvSpPr>
          <p:cNvPr name="AutoShape 10" id="10"/>
          <p:cNvSpPr/>
          <p:nvPr/>
        </p:nvSpPr>
        <p:spPr>
          <a:xfrm>
            <a:off x="2321542" y="7821140"/>
            <a:ext cx="4154377" cy="0"/>
          </a:xfrm>
          <a:prstGeom prst="line">
            <a:avLst/>
          </a:prstGeom>
          <a:ln cap="flat" w="38100">
            <a:solidFill>
              <a:srgbClr val="145DA0"/>
            </a:solidFill>
            <a:prstDash val="solid"/>
            <a:headEnd type="none" len="sm" w="sm"/>
            <a:tailEnd type="none" len="sm" w="sm"/>
          </a:ln>
        </p:spPr>
      </p:sp>
      <p:sp>
        <p:nvSpPr>
          <p:cNvPr name="Freeform 11" id="11"/>
          <p:cNvSpPr/>
          <p:nvPr/>
        </p:nvSpPr>
        <p:spPr>
          <a:xfrm flipH="false" flipV="false" rot="0">
            <a:off x="7066494"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2" id="12"/>
          <p:cNvGrpSpPr/>
          <p:nvPr/>
        </p:nvGrpSpPr>
        <p:grpSpPr>
          <a:xfrm rot="0">
            <a:off x="7041715" y="2466355"/>
            <a:ext cx="4203375" cy="5973865"/>
            <a:chOff x="0" y="0"/>
            <a:chExt cx="1416547" cy="2013207"/>
          </a:xfrm>
        </p:grpSpPr>
        <p:sp>
          <p:nvSpPr>
            <p:cNvPr name="Freeform 13" id="13"/>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4" id="14"/>
            <p:cNvSpPr txBox="true"/>
            <p:nvPr/>
          </p:nvSpPr>
          <p:spPr>
            <a:xfrm>
              <a:off x="0" y="-57150"/>
              <a:ext cx="1416547" cy="20703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5" id="15"/>
          <p:cNvSpPr/>
          <p:nvPr/>
        </p:nvSpPr>
        <p:spPr>
          <a:xfrm>
            <a:off x="7066494" y="5227111"/>
            <a:ext cx="4154377" cy="0"/>
          </a:xfrm>
          <a:prstGeom prst="line">
            <a:avLst/>
          </a:prstGeom>
          <a:ln cap="flat" w="38100">
            <a:solidFill>
              <a:srgbClr val="145DA0"/>
            </a:solidFill>
            <a:prstDash val="solid"/>
            <a:headEnd type="none" len="sm" w="sm"/>
            <a:tailEnd type="none" len="sm" w="sm"/>
          </a:ln>
        </p:spPr>
      </p:sp>
      <p:sp>
        <p:nvSpPr>
          <p:cNvPr name="AutoShape 16" id="16"/>
          <p:cNvSpPr/>
          <p:nvPr/>
        </p:nvSpPr>
        <p:spPr>
          <a:xfrm>
            <a:off x="7090713" y="7802090"/>
            <a:ext cx="4154377" cy="0"/>
          </a:xfrm>
          <a:prstGeom prst="line">
            <a:avLst/>
          </a:prstGeom>
          <a:ln cap="flat" w="38100">
            <a:solidFill>
              <a:srgbClr val="145DA0"/>
            </a:solidFill>
            <a:prstDash val="solid"/>
            <a:headEnd type="none" len="sm" w="sm"/>
            <a:tailEnd type="none" len="sm" w="sm"/>
          </a:ln>
        </p:spPr>
      </p:sp>
      <p:sp>
        <p:nvSpPr>
          <p:cNvPr name="Freeform 17" id="17"/>
          <p:cNvSpPr/>
          <p:nvPr/>
        </p:nvSpPr>
        <p:spPr>
          <a:xfrm flipH="false" flipV="false" rot="0">
            <a:off x="11836861"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8" id="18"/>
          <p:cNvGrpSpPr/>
          <p:nvPr/>
        </p:nvGrpSpPr>
        <p:grpSpPr>
          <a:xfrm rot="0">
            <a:off x="11812082" y="2466355"/>
            <a:ext cx="4203375" cy="5973865"/>
            <a:chOff x="0" y="0"/>
            <a:chExt cx="1416547" cy="2013207"/>
          </a:xfrm>
        </p:grpSpPr>
        <p:sp>
          <p:nvSpPr>
            <p:cNvPr name="Freeform 19" id="19"/>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20" id="20"/>
            <p:cNvSpPr txBox="true"/>
            <p:nvPr/>
          </p:nvSpPr>
          <p:spPr>
            <a:xfrm>
              <a:off x="0" y="-57150"/>
              <a:ext cx="1416547" cy="207035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21" id="21"/>
          <p:cNvSpPr/>
          <p:nvPr/>
        </p:nvSpPr>
        <p:spPr>
          <a:xfrm>
            <a:off x="11836861" y="5227111"/>
            <a:ext cx="4154377" cy="0"/>
          </a:xfrm>
          <a:prstGeom prst="line">
            <a:avLst/>
          </a:prstGeom>
          <a:ln cap="flat" w="38100">
            <a:solidFill>
              <a:srgbClr val="145DA0"/>
            </a:solidFill>
            <a:prstDash val="solid"/>
            <a:headEnd type="none" len="sm" w="sm"/>
            <a:tailEnd type="none" len="sm" w="sm"/>
          </a:ln>
        </p:spPr>
      </p:sp>
      <p:sp>
        <p:nvSpPr>
          <p:cNvPr name="AutoShape 22" id="22"/>
          <p:cNvSpPr/>
          <p:nvPr/>
        </p:nvSpPr>
        <p:spPr>
          <a:xfrm>
            <a:off x="11812082" y="7783040"/>
            <a:ext cx="4154377" cy="0"/>
          </a:xfrm>
          <a:prstGeom prst="line">
            <a:avLst/>
          </a:prstGeom>
          <a:ln cap="flat" w="38100">
            <a:solidFill>
              <a:srgbClr val="145DA0"/>
            </a:solidFill>
            <a:prstDash val="solid"/>
            <a:headEnd type="none" len="sm" w="sm"/>
            <a:tailEnd type="none" len="sm" w="sm"/>
          </a:ln>
        </p:spPr>
      </p:sp>
      <p:sp>
        <p:nvSpPr>
          <p:cNvPr name="TextBox 23" id="23"/>
          <p:cNvSpPr txBox="true"/>
          <p:nvPr/>
        </p:nvSpPr>
        <p:spPr>
          <a:xfrm rot="0">
            <a:off x="5201579" y="1256682"/>
            <a:ext cx="7884841" cy="819148"/>
          </a:xfrm>
          <a:prstGeom prst="rect">
            <a:avLst/>
          </a:prstGeom>
        </p:spPr>
        <p:txBody>
          <a:bodyPr anchor="t" rtlCol="false" tIns="0" lIns="0" bIns="0" rIns="0">
            <a:spAutoFit/>
          </a:bodyPr>
          <a:lstStyle/>
          <a:p>
            <a:pPr algn="ctr" marL="0" indent="0" lvl="0">
              <a:lnSpc>
                <a:spcPts val="6300"/>
              </a:lnSpc>
              <a:spcBef>
                <a:spcPct val="0"/>
              </a:spcBef>
            </a:pPr>
            <a:r>
              <a:rPr lang="en-US" b="true" sz="4500">
                <a:solidFill>
                  <a:srgbClr val="00569E"/>
                </a:solidFill>
                <a:latin typeface="Poppins Bold"/>
                <a:ea typeface="Poppins Bold"/>
                <a:cs typeface="Poppins Bold"/>
                <a:sym typeface="Poppins Bold"/>
              </a:rPr>
              <a:t>Challenges &amp; Limitation</a:t>
            </a:r>
          </a:p>
        </p:txBody>
      </p:sp>
      <p:sp>
        <p:nvSpPr>
          <p:cNvPr name="TextBox 24" id="24"/>
          <p:cNvSpPr txBox="true"/>
          <p:nvPr/>
        </p:nvSpPr>
        <p:spPr>
          <a:xfrm rot="0">
            <a:off x="2584630" y="5561662"/>
            <a:ext cx="3579202" cy="1665977"/>
          </a:xfrm>
          <a:prstGeom prst="rect">
            <a:avLst/>
          </a:prstGeom>
        </p:spPr>
        <p:txBody>
          <a:bodyPr anchor="t" rtlCol="false" tIns="0" lIns="0" bIns="0" rIns="0">
            <a:spAutoFit/>
          </a:bodyPr>
          <a:lstStyle/>
          <a:p>
            <a:pPr algn="ctr">
              <a:lnSpc>
                <a:spcPts val="2674"/>
              </a:lnSpc>
            </a:pPr>
            <a:r>
              <a:rPr lang="en-US" sz="1910" spc="-38">
                <a:solidFill>
                  <a:srgbClr val="145DA0"/>
                </a:solidFill>
                <a:latin typeface="Poppins"/>
                <a:ea typeface="Poppins"/>
                <a:cs typeface="Poppins"/>
                <a:sym typeface="Poppins"/>
              </a:rPr>
              <a:t>M</a:t>
            </a:r>
            <a:r>
              <a:rPr lang="en-US" sz="1910" spc="-38" strike="noStrike" u="none">
                <a:solidFill>
                  <a:srgbClr val="145DA0"/>
                </a:solidFill>
                <a:latin typeface="Poppins"/>
                <a:ea typeface="Poppins"/>
                <a:cs typeface="Poppins"/>
                <a:sym typeface="Poppins"/>
              </a:rPr>
              <a:t>ost policyholders don’t file claims, and loss amounts are often zero or extremely high. It is difficult for models to learn accurate patterns.</a:t>
            </a:r>
          </a:p>
        </p:txBody>
      </p:sp>
      <p:sp>
        <p:nvSpPr>
          <p:cNvPr name="TextBox 25" id="25"/>
          <p:cNvSpPr txBox="true"/>
          <p:nvPr/>
        </p:nvSpPr>
        <p:spPr>
          <a:xfrm rot="0">
            <a:off x="2584630" y="4608025"/>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Imbalanced Data</a:t>
            </a:r>
          </a:p>
        </p:txBody>
      </p:sp>
      <p:sp>
        <p:nvSpPr>
          <p:cNvPr name="TextBox 26" id="26"/>
          <p:cNvSpPr txBox="true"/>
          <p:nvPr/>
        </p:nvSpPr>
        <p:spPr>
          <a:xfrm rot="0">
            <a:off x="7354399" y="5394975"/>
            <a:ext cx="3579202" cy="1999352"/>
          </a:xfrm>
          <a:prstGeom prst="rect">
            <a:avLst/>
          </a:prstGeom>
        </p:spPr>
        <p:txBody>
          <a:bodyPr anchor="t" rtlCol="false" tIns="0" lIns="0" bIns="0" rIns="0">
            <a:spAutoFit/>
          </a:bodyPr>
          <a:lstStyle/>
          <a:p>
            <a:pPr algn="ctr">
              <a:lnSpc>
                <a:spcPts val="2674"/>
              </a:lnSpc>
            </a:pPr>
            <a:r>
              <a:rPr lang="en-US" sz="1910" spc="-38">
                <a:solidFill>
                  <a:srgbClr val="145DA0"/>
                </a:solidFill>
                <a:latin typeface="Poppins"/>
                <a:ea typeface="Poppins"/>
                <a:cs typeface="Poppins"/>
                <a:sym typeface="Poppins"/>
              </a:rPr>
              <a:t>Dat</a:t>
            </a:r>
            <a:r>
              <a:rPr lang="en-US" sz="1910" spc="-38" strike="noStrike" u="none">
                <a:solidFill>
                  <a:srgbClr val="145DA0"/>
                </a:solidFill>
                <a:latin typeface="Poppins"/>
                <a:ea typeface="Poppins"/>
                <a:cs typeface="Poppins"/>
                <a:sym typeface="Poppins"/>
              </a:rPr>
              <a:t>es like policy start, license issuance, and vehicle registration require thoughtful transformation into meaningful features (e.g., policy duration, driver age).</a:t>
            </a:r>
          </a:p>
        </p:txBody>
      </p:sp>
      <p:sp>
        <p:nvSpPr>
          <p:cNvPr name="TextBox 27" id="27"/>
          <p:cNvSpPr txBox="true"/>
          <p:nvPr/>
        </p:nvSpPr>
        <p:spPr>
          <a:xfrm rot="0">
            <a:off x="7353801" y="4608025"/>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Temporal Data</a:t>
            </a:r>
          </a:p>
        </p:txBody>
      </p:sp>
      <p:sp>
        <p:nvSpPr>
          <p:cNvPr name="TextBox 28" id="28"/>
          <p:cNvSpPr txBox="true"/>
          <p:nvPr/>
        </p:nvSpPr>
        <p:spPr>
          <a:xfrm rot="0">
            <a:off x="12124168" y="5561662"/>
            <a:ext cx="3579202" cy="1665977"/>
          </a:xfrm>
          <a:prstGeom prst="rect">
            <a:avLst/>
          </a:prstGeom>
        </p:spPr>
        <p:txBody>
          <a:bodyPr anchor="t" rtlCol="false" tIns="0" lIns="0" bIns="0" rIns="0">
            <a:spAutoFit/>
          </a:bodyPr>
          <a:lstStyle/>
          <a:p>
            <a:pPr algn="ctr">
              <a:lnSpc>
                <a:spcPts val="2674"/>
              </a:lnSpc>
            </a:pPr>
            <a:r>
              <a:rPr lang="en-US" sz="1910" spc="-38">
                <a:solidFill>
                  <a:srgbClr val="145DA0"/>
                </a:solidFill>
                <a:latin typeface="Poppins"/>
                <a:ea typeface="Poppins"/>
                <a:cs typeface="Poppins"/>
                <a:sym typeface="Poppins"/>
              </a:rPr>
              <a:t>I</a:t>
            </a:r>
            <a:r>
              <a:rPr lang="en-US" sz="1910" spc="-38" strike="noStrike" u="none">
                <a:solidFill>
                  <a:srgbClr val="145DA0"/>
                </a:solidFill>
                <a:latin typeface="Poppins"/>
                <a:ea typeface="Poppins"/>
                <a:cs typeface="Poppins"/>
                <a:sym typeface="Poppins"/>
              </a:rPr>
              <a:t>t's trained on auto-specific features and lacks relevant health, demographic, and lifestyle data critical for life insurance pricing.</a:t>
            </a:r>
          </a:p>
        </p:txBody>
      </p:sp>
      <p:sp>
        <p:nvSpPr>
          <p:cNvPr name="TextBox 29" id="29"/>
          <p:cNvSpPr txBox="true"/>
          <p:nvPr/>
        </p:nvSpPr>
        <p:spPr>
          <a:xfrm rot="0">
            <a:off x="12124168" y="4608025"/>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Auto Insurance ONLY</a:t>
            </a:r>
          </a:p>
        </p:txBody>
      </p:sp>
      <p:sp>
        <p:nvSpPr>
          <p:cNvPr name="Freeform 30" id="30"/>
          <p:cNvSpPr/>
          <p:nvPr/>
        </p:nvSpPr>
        <p:spPr>
          <a:xfrm flipH="false" flipV="false" rot="0">
            <a:off x="3492094" y="2977488"/>
            <a:ext cx="1764834" cy="1373362"/>
          </a:xfrm>
          <a:custGeom>
            <a:avLst/>
            <a:gdLst/>
            <a:ahLst/>
            <a:cxnLst/>
            <a:rect r="r" b="b" t="t" l="l"/>
            <a:pathLst>
              <a:path h="1373362" w="1764834">
                <a:moveTo>
                  <a:pt x="0" y="0"/>
                </a:moveTo>
                <a:lnTo>
                  <a:pt x="1764834" y="0"/>
                </a:lnTo>
                <a:lnTo>
                  <a:pt x="1764834" y="1373362"/>
                </a:lnTo>
                <a:lnTo>
                  <a:pt x="0" y="13733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1" id="31"/>
          <p:cNvSpPr/>
          <p:nvPr/>
        </p:nvSpPr>
        <p:spPr>
          <a:xfrm flipH="false" flipV="false" rot="0">
            <a:off x="13331064" y="2920338"/>
            <a:ext cx="1174318" cy="1563862"/>
          </a:xfrm>
          <a:custGeom>
            <a:avLst/>
            <a:gdLst/>
            <a:ahLst/>
            <a:cxnLst/>
            <a:rect r="r" b="b" t="t" l="l"/>
            <a:pathLst>
              <a:path h="1563862" w="1174318">
                <a:moveTo>
                  <a:pt x="0" y="0"/>
                </a:moveTo>
                <a:lnTo>
                  <a:pt x="1174318" y="0"/>
                </a:lnTo>
                <a:lnTo>
                  <a:pt x="1174318" y="1563862"/>
                </a:lnTo>
                <a:lnTo>
                  <a:pt x="0" y="15638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32" id="32"/>
          <p:cNvSpPr/>
          <p:nvPr/>
        </p:nvSpPr>
        <p:spPr>
          <a:xfrm flipH="false" flipV="false" rot="0">
            <a:off x="8639419" y="2920338"/>
            <a:ext cx="1009161" cy="1430512"/>
          </a:xfrm>
          <a:custGeom>
            <a:avLst/>
            <a:gdLst/>
            <a:ahLst/>
            <a:cxnLst/>
            <a:rect r="r" b="b" t="t" l="l"/>
            <a:pathLst>
              <a:path h="1430512" w="1009161">
                <a:moveTo>
                  <a:pt x="0" y="0"/>
                </a:moveTo>
                <a:lnTo>
                  <a:pt x="1009162" y="0"/>
                </a:lnTo>
                <a:lnTo>
                  <a:pt x="1009162" y="1430512"/>
                </a:lnTo>
                <a:lnTo>
                  <a:pt x="0" y="14305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3402273" y="-8767"/>
            <a:ext cx="4907787" cy="10295767"/>
          </a:xfrm>
          <a:custGeom>
            <a:avLst/>
            <a:gdLst/>
            <a:ahLst/>
            <a:cxnLst/>
            <a:rect r="r" b="b" t="t" l="l"/>
            <a:pathLst>
              <a:path h="10295767" w="4907787">
                <a:moveTo>
                  <a:pt x="0" y="0"/>
                </a:moveTo>
                <a:lnTo>
                  <a:pt x="4907787" y="0"/>
                </a:lnTo>
                <a:lnTo>
                  <a:pt x="4907787" y="10295767"/>
                </a:lnTo>
                <a:lnTo>
                  <a:pt x="0" y="10295767"/>
                </a:lnTo>
                <a:lnTo>
                  <a:pt x="0" y="0"/>
                </a:lnTo>
                <a:close/>
              </a:path>
            </a:pathLst>
          </a:custGeom>
          <a:blipFill>
            <a:blip r:embed="rId3"/>
            <a:stretch>
              <a:fillRect l="-19884" t="0" r="-19884" b="0"/>
            </a:stretch>
          </a:blipFill>
        </p:spPr>
      </p:sp>
      <p:grpSp>
        <p:nvGrpSpPr>
          <p:cNvPr name="Group 3" id="3"/>
          <p:cNvGrpSpPr/>
          <p:nvPr/>
        </p:nvGrpSpPr>
        <p:grpSpPr>
          <a:xfrm rot="0">
            <a:off x="1028700" y="3852968"/>
            <a:ext cx="14586028" cy="5088907"/>
            <a:chOff x="0" y="0"/>
            <a:chExt cx="3841588" cy="1340288"/>
          </a:xfrm>
        </p:grpSpPr>
        <p:sp>
          <p:nvSpPr>
            <p:cNvPr name="Freeform 4" id="4"/>
            <p:cNvSpPr/>
            <p:nvPr/>
          </p:nvSpPr>
          <p:spPr>
            <a:xfrm flipH="false" flipV="false" rot="0">
              <a:off x="0" y="0"/>
              <a:ext cx="3841588" cy="1340288"/>
            </a:xfrm>
            <a:custGeom>
              <a:avLst/>
              <a:gdLst/>
              <a:ahLst/>
              <a:cxnLst/>
              <a:rect r="r" b="b" t="t" l="l"/>
              <a:pathLst>
                <a:path h="1340288" w="3841588">
                  <a:moveTo>
                    <a:pt x="9023" y="0"/>
                  </a:moveTo>
                  <a:lnTo>
                    <a:pt x="3832565" y="0"/>
                  </a:lnTo>
                  <a:cubicBezTo>
                    <a:pt x="3837548" y="0"/>
                    <a:pt x="3841588" y="4040"/>
                    <a:pt x="3841588" y="9023"/>
                  </a:cubicBezTo>
                  <a:lnTo>
                    <a:pt x="3841588" y="1331265"/>
                  </a:lnTo>
                  <a:cubicBezTo>
                    <a:pt x="3841588" y="1336248"/>
                    <a:pt x="3837548" y="1340288"/>
                    <a:pt x="3832565" y="1340288"/>
                  </a:cubicBezTo>
                  <a:lnTo>
                    <a:pt x="9023" y="1340288"/>
                  </a:lnTo>
                  <a:cubicBezTo>
                    <a:pt x="4040" y="1340288"/>
                    <a:pt x="0" y="1336248"/>
                    <a:pt x="0" y="1331265"/>
                  </a:cubicBezTo>
                  <a:lnTo>
                    <a:pt x="0" y="9023"/>
                  </a:lnTo>
                  <a:cubicBezTo>
                    <a:pt x="0" y="4040"/>
                    <a:pt x="4040" y="0"/>
                    <a:pt x="9023" y="0"/>
                  </a:cubicBezTo>
                  <a:close/>
                </a:path>
              </a:pathLst>
            </a:custGeom>
            <a:solidFill>
              <a:srgbClr val="FDFDFD"/>
            </a:solidFill>
          </p:spPr>
        </p:sp>
        <p:sp>
          <p:nvSpPr>
            <p:cNvPr name="TextBox 5" id="5"/>
            <p:cNvSpPr txBox="true"/>
            <p:nvPr/>
          </p:nvSpPr>
          <p:spPr>
            <a:xfrm>
              <a:off x="0" y="-57150"/>
              <a:ext cx="3841588" cy="139743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70420" y="866775"/>
            <a:ext cx="9435759" cy="1010153"/>
          </a:xfrm>
          <a:prstGeom prst="rect">
            <a:avLst/>
          </a:prstGeom>
        </p:spPr>
        <p:txBody>
          <a:bodyPr anchor="t" rtlCol="false" tIns="0" lIns="0" bIns="0" rIns="0">
            <a:spAutoFit/>
          </a:bodyPr>
          <a:lstStyle/>
          <a:p>
            <a:pPr algn="l">
              <a:lnSpc>
                <a:spcPts val="7847"/>
              </a:lnSpc>
              <a:spcBef>
                <a:spcPct val="0"/>
              </a:spcBef>
            </a:pPr>
            <a:r>
              <a:rPr lang="en-US" b="true" sz="5605">
                <a:solidFill>
                  <a:srgbClr val="FDFDFD"/>
                </a:solidFill>
                <a:latin typeface="Poppins Bold"/>
                <a:ea typeface="Poppins Bold"/>
                <a:cs typeface="Poppins Bold"/>
                <a:sym typeface="Poppins Bold"/>
              </a:rPr>
              <a:t>FURTHER IMPROVEMENT</a:t>
            </a:r>
          </a:p>
        </p:txBody>
      </p:sp>
      <p:sp>
        <p:nvSpPr>
          <p:cNvPr name="TextBox 7" id="7"/>
          <p:cNvSpPr txBox="true"/>
          <p:nvPr/>
        </p:nvSpPr>
        <p:spPr>
          <a:xfrm rot="0">
            <a:off x="1146487" y="2397313"/>
            <a:ext cx="11681977" cy="483539"/>
          </a:xfrm>
          <a:prstGeom prst="rect">
            <a:avLst/>
          </a:prstGeom>
        </p:spPr>
        <p:txBody>
          <a:bodyPr anchor="t" rtlCol="false" tIns="0" lIns="0" bIns="0" rIns="0">
            <a:spAutoFit/>
          </a:bodyPr>
          <a:lstStyle/>
          <a:p>
            <a:pPr algn="l">
              <a:lnSpc>
                <a:spcPts val="3798"/>
              </a:lnSpc>
            </a:pPr>
            <a:r>
              <a:rPr lang="en-US" sz="2713" spc="-54">
                <a:solidFill>
                  <a:srgbClr val="FDFDFD"/>
                </a:solidFill>
                <a:latin typeface="Poppins"/>
                <a:ea typeface="Poppins"/>
                <a:cs typeface="Poppins"/>
                <a:sym typeface="Poppins"/>
              </a:rPr>
              <a:t>S</a:t>
            </a:r>
            <a:r>
              <a:rPr lang="en-US" sz="2713" spc="-54" strike="noStrike" u="none">
                <a:solidFill>
                  <a:srgbClr val="FDFDFD"/>
                </a:solidFill>
                <a:latin typeface="Poppins"/>
                <a:ea typeface="Poppins"/>
                <a:cs typeface="Poppins"/>
                <a:sym typeface="Poppins"/>
              </a:rPr>
              <a:t>egmenting the data by risk type (X.19) and building separate models</a:t>
            </a:r>
          </a:p>
        </p:txBody>
      </p:sp>
      <p:sp>
        <p:nvSpPr>
          <p:cNvPr name="Freeform 8" id="8"/>
          <p:cNvSpPr/>
          <p:nvPr/>
        </p:nvSpPr>
        <p:spPr>
          <a:xfrm flipH="false" flipV="false" rot="0">
            <a:off x="7706258" y="4286548"/>
            <a:ext cx="1232553" cy="1232553"/>
          </a:xfrm>
          <a:custGeom>
            <a:avLst/>
            <a:gdLst/>
            <a:ahLst/>
            <a:cxnLst/>
            <a:rect r="r" b="b" t="t" l="l"/>
            <a:pathLst>
              <a:path h="1232553" w="1232553">
                <a:moveTo>
                  <a:pt x="0" y="0"/>
                </a:moveTo>
                <a:lnTo>
                  <a:pt x="1232553" y="0"/>
                </a:lnTo>
                <a:lnTo>
                  <a:pt x="1232553" y="1232553"/>
                </a:lnTo>
                <a:lnTo>
                  <a:pt x="0" y="1232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3005199" y="4271786"/>
            <a:ext cx="1077227" cy="1247315"/>
          </a:xfrm>
          <a:custGeom>
            <a:avLst/>
            <a:gdLst/>
            <a:ahLst/>
            <a:cxnLst/>
            <a:rect r="r" b="b" t="t" l="l"/>
            <a:pathLst>
              <a:path h="1247315" w="1077227">
                <a:moveTo>
                  <a:pt x="0" y="0"/>
                </a:moveTo>
                <a:lnTo>
                  <a:pt x="1077227" y="0"/>
                </a:lnTo>
                <a:lnTo>
                  <a:pt x="1077227" y="1247315"/>
                </a:lnTo>
                <a:lnTo>
                  <a:pt x="0" y="1247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12563554" y="4369316"/>
            <a:ext cx="1361742" cy="1052255"/>
          </a:xfrm>
          <a:custGeom>
            <a:avLst/>
            <a:gdLst/>
            <a:ahLst/>
            <a:cxnLst/>
            <a:rect r="r" b="b" t="t" l="l"/>
            <a:pathLst>
              <a:path h="1052255" w="1361742">
                <a:moveTo>
                  <a:pt x="0" y="0"/>
                </a:moveTo>
                <a:lnTo>
                  <a:pt x="1361742" y="0"/>
                </a:lnTo>
                <a:lnTo>
                  <a:pt x="1361742" y="1052255"/>
                </a:lnTo>
                <a:lnTo>
                  <a:pt x="0" y="10522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11" id="11"/>
          <p:cNvGrpSpPr/>
          <p:nvPr/>
        </p:nvGrpSpPr>
        <p:grpSpPr>
          <a:xfrm rot="0">
            <a:off x="15573718" y="7940477"/>
            <a:ext cx="4693046" cy="469304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262973" y="6282798"/>
            <a:ext cx="4561678" cy="2975502"/>
          </a:xfrm>
          <a:prstGeom prst="rect">
            <a:avLst/>
          </a:prstGeom>
        </p:spPr>
        <p:txBody>
          <a:bodyPr anchor="t" rtlCol="false" tIns="0" lIns="0" bIns="0" rIns="0">
            <a:spAutoFit/>
          </a:bodyPr>
          <a:lstStyle/>
          <a:p>
            <a:pPr algn="ctr">
              <a:lnSpc>
                <a:spcPts val="2940"/>
              </a:lnSpc>
            </a:pPr>
            <a:r>
              <a:rPr lang="en-US" sz="2100" spc="-42">
                <a:solidFill>
                  <a:srgbClr val="145DA0"/>
                </a:solidFill>
                <a:latin typeface="Poppins"/>
                <a:ea typeface="Poppins"/>
                <a:cs typeface="Poppins"/>
                <a:sym typeface="Poppins"/>
              </a:rPr>
              <a:t>Diffe</a:t>
            </a:r>
            <a:r>
              <a:rPr lang="en-US" sz="2100" spc="-42" strike="noStrike" u="none">
                <a:solidFill>
                  <a:srgbClr val="145DA0"/>
                </a:solidFill>
                <a:latin typeface="Poppins"/>
                <a:ea typeface="Poppins"/>
                <a:cs typeface="Poppins"/>
                <a:sym typeface="Poppins"/>
              </a:rPr>
              <a:t>rent vehicle types (motorbikes, vans, passenger cars, agri vehicles) have vastly different claim frequencies, severities, and costs. Modeling them together may blur the signals.</a:t>
            </a:r>
          </a:p>
          <a:p>
            <a:pPr algn="l">
              <a:lnSpc>
                <a:spcPts val="2940"/>
              </a:lnSpc>
            </a:pPr>
          </a:p>
          <a:p>
            <a:pPr algn="l">
              <a:lnSpc>
                <a:spcPts val="2940"/>
              </a:lnSpc>
            </a:pPr>
          </a:p>
        </p:txBody>
      </p:sp>
      <p:sp>
        <p:nvSpPr>
          <p:cNvPr name="AutoShape 15" id="15"/>
          <p:cNvSpPr/>
          <p:nvPr/>
        </p:nvSpPr>
        <p:spPr>
          <a:xfrm>
            <a:off x="5938890" y="4181637"/>
            <a:ext cx="0" cy="4410340"/>
          </a:xfrm>
          <a:prstGeom prst="line">
            <a:avLst/>
          </a:prstGeom>
          <a:ln cap="flat" w="38100">
            <a:solidFill>
              <a:srgbClr val="145DA0"/>
            </a:solidFill>
            <a:prstDash val="solid"/>
            <a:headEnd type="none" len="sm" w="sm"/>
            <a:tailEnd type="none" len="sm" w="sm"/>
          </a:ln>
        </p:spPr>
      </p:sp>
      <p:sp>
        <p:nvSpPr>
          <p:cNvPr name="TextBox 16" id="16"/>
          <p:cNvSpPr txBox="true"/>
          <p:nvPr/>
        </p:nvSpPr>
        <p:spPr>
          <a:xfrm rot="0">
            <a:off x="1615089" y="5619452"/>
            <a:ext cx="3857447" cy="1437063"/>
          </a:xfrm>
          <a:prstGeom prst="rect">
            <a:avLst/>
          </a:prstGeom>
        </p:spPr>
        <p:txBody>
          <a:bodyPr anchor="t" rtlCol="false" tIns="0" lIns="0" bIns="0" rIns="0">
            <a:spAutoFit/>
          </a:bodyPr>
          <a:lstStyle/>
          <a:p>
            <a:pPr algn="ctr">
              <a:lnSpc>
                <a:spcPts val="3759"/>
              </a:lnSpc>
            </a:pPr>
            <a:r>
              <a:rPr lang="en-US" sz="2685">
                <a:solidFill>
                  <a:srgbClr val="145DA0"/>
                </a:solidFill>
                <a:latin typeface="Poppins"/>
                <a:ea typeface="Poppins"/>
                <a:cs typeface="Poppins"/>
                <a:sym typeface="Poppins"/>
              </a:rPr>
              <a:t>01 Different behavior</a:t>
            </a:r>
          </a:p>
          <a:p>
            <a:pPr algn="ctr">
              <a:lnSpc>
                <a:spcPts val="3759"/>
              </a:lnSpc>
            </a:pPr>
          </a:p>
          <a:p>
            <a:pPr algn="ctr">
              <a:lnSpc>
                <a:spcPts val="3759"/>
              </a:lnSpc>
              <a:spcBef>
                <a:spcPct val="0"/>
              </a:spcBef>
            </a:pPr>
          </a:p>
        </p:txBody>
      </p:sp>
      <p:sp>
        <p:nvSpPr>
          <p:cNvPr name="TextBox 17" id="17"/>
          <p:cNvSpPr txBox="true"/>
          <p:nvPr/>
        </p:nvSpPr>
        <p:spPr>
          <a:xfrm rot="0">
            <a:off x="6241642" y="6318934"/>
            <a:ext cx="4161784" cy="2604135"/>
          </a:xfrm>
          <a:prstGeom prst="rect">
            <a:avLst/>
          </a:prstGeom>
        </p:spPr>
        <p:txBody>
          <a:bodyPr anchor="t" rtlCol="false" tIns="0" lIns="0" bIns="0" rIns="0">
            <a:spAutoFit/>
          </a:bodyPr>
          <a:lstStyle/>
          <a:p>
            <a:pPr algn="ctr">
              <a:lnSpc>
                <a:spcPts val="2940"/>
              </a:lnSpc>
            </a:pPr>
            <a:r>
              <a:rPr lang="en-US" sz="2100" spc="-42">
                <a:solidFill>
                  <a:srgbClr val="145DA0"/>
                </a:solidFill>
                <a:latin typeface="Poppins"/>
                <a:ea typeface="Poppins"/>
                <a:cs typeface="Poppins"/>
                <a:sym typeface="Poppins"/>
              </a:rPr>
              <a:t>Sepa</a:t>
            </a:r>
            <a:r>
              <a:rPr lang="en-US" sz="2100" spc="-42" strike="noStrike" u="none">
                <a:solidFill>
                  <a:srgbClr val="145DA0"/>
                </a:solidFill>
                <a:latin typeface="Poppins"/>
                <a:ea typeface="Poppins"/>
                <a:cs typeface="Poppins"/>
                <a:sym typeface="Poppins"/>
              </a:rPr>
              <a:t>rate models can better capture the unique patterns, relationships, and distributions for each risk type — leading to higher accuracy.</a:t>
            </a:r>
          </a:p>
          <a:p>
            <a:pPr algn="ctr">
              <a:lnSpc>
                <a:spcPts val="2940"/>
              </a:lnSpc>
            </a:pPr>
          </a:p>
          <a:p>
            <a:pPr algn="ctr">
              <a:lnSpc>
                <a:spcPts val="2940"/>
              </a:lnSpc>
            </a:pPr>
          </a:p>
        </p:txBody>
      </p:sp>
      <p:sp>
        <p:nvSpPr>
          <p:cNvPr name="TextBox 18" id="18"/>
          <p:cNvSpPr txBox="true"/>
          <p:nvPr/>
        </p:nvSpPr>
        <p:spPr>
          <a:xfrm rot="0">
            <a:off x="6218792" y="5619452"/>
            <a:ext cx="4207485" cy="1437063"/>
          </a:xfrm>
          <a:prstGeom prst="rect">
            <a:avLst/>
          </a:prstGeom>
        </p:spPr>
        <p:txBody>
          <a:bodyPr anchor="t" rtlCol="false" tIns="0" lIns="0" bIns="0" rIns="0">
            <a:spAutoFit/>
          </a:bodyPr>
          <a:lstStyle/>
          <a:p>
            <a:pPr algn="ctr">
              <a:lnSpc>
                <a:spcPts val="3759"/>
              </a:lnSpc>
            </a:pPr>
            <a:r>
              <a:rPr lang="en-US" sz="2685">
                <a:solidFill>
                  <a:srgbClr val="145DA0"/>
                </a:solidFill>
                <a:latin typeface="Poppins"/>
                <a:ea typeface="Poppins"/>
                <a:cs typeface="Poppins"/>
                <a:sym typeface="Poppins"/>
              </a:rPr>
              <a:t>02 Better performance</a:t>
            </a:r>
          </a:p>
          <a:p>
            <a:pPr algn="ctr">
              <a:lnSpc>
                <a:spcPts val="3759"/>
              </a:lnSpc>
            </a:pPr>
          </a:p>
          <a:p>
            <a:pPr algn="ctr">
              <a:lnSpc>
                <a:spcPts val="3759"/>
              </a:lnSpc>
              <a:spcBef>
                <a:spcPct val="0"/>
              </a:spcBef>
            </a:pPr>
          </a:p>
        </p:txBody>
      </p:sp>
      <p:sp>
        <p:nvSpPr>
          <p:cNvPr name="TextBox 19" id="19"/>
          <p:cNvSpPr txBox="true"/>
          <p:nvPr/>
        </p:nvSpPr>
        <p:spPr>
          <a:xfrm rot="0">
            <a:off x="11015467" y="6318934"/>
            <a:ext cx="4268013" cy="2232660"/>
          </a:xfrm>
          <a:prstGeom prst="rect">
            <a:avLst/>
          </a:prstGeom>
        </p:spPr>
        <p:txBody>
          <a:bodyPr anchor="t" rtlCol="false" tIns="0" lIns="0" bIns="0" rIns="0">
            <a:spAutoFit/>
          </a:bodyPr>
          <a:lstStyle/>
          <a:p>
            <a:pPr algn="ctr">
              <a:lnSpc>
                <a:spcPts val="2940"/>
              </a:lnSpc>
            </a:pPr>
            <a:r>
              <a:rPr lang="en-US" sz="2100" spc="-42">
                <a:solidFill>
                  <a:srgbClr val="145DA0"/>
                </a:solidFill>
                <a:latin typeface="Poppins"/>
                <a:ea typeface="Poppins"/>
                <a:cs typeface="Poppins"/>
                <a:sym typeface="Poppins"/>
              </a:rPr>
              <a:t>Insu</a:t>
            </a:r>
            <a:r>
              <a:rPr lang="en-US" sz="2100" spc="-42" strike="noStrike" u="none">
                <a:solidFill>
                  <a:srgbClr val="145DA0"/>
                </a:solidFill>
                <a:latin typeface="Poppins"/>
                <a:ea typeface="Poppins"/>
                <a:cs typeface="Poppins"/>
                <a:sym typeface="Poppins"/>
              </a:rPr>
              <a:t>rers often treat different risk segments differently: pricing rules, fraud flags, underwriting policies, etc.</a:t>
            </a:r>
          </a:p>
          <a:p>
            <a:pPr algn="ctr">
              <a:lnSpc>
                <a:spcPts val="2940"/>
              </a:lnSpc>
            </a:pPr>
          </a:p>
          <a:p>
            <a:pPr algn="ctr">
              <a:lnSpc>
                <a:spcPts val="2940"/>
              </a:lnSpc>
            </a:pPr>
          </a:p>
        </p:txBody>
      </p:sp>
      <p:sp>
        <p:nvSpPr>
          <p:cNvPr name="TextBox 20" id="20"/>
          <p:cNvSpPr txBox="true"/>
          <p:nvPr/>
        </p:nvSpPr>
        <p:spPr>
          <a:xfrm rot="0">
            <a:off x="11015467" y="5619452"/>
            <a:ext cx="4172075" cy="1437063"/>
          </a:xfrm>
          <a:prstGeom prst="rect">
            <a:avLst/>
          </a:prstGeom>
        </p:spPr>
        <p:txBody>
          <a:bodyPr anchor="t" rtlCol="false" tIns="0" lIns="0" bIns="0" rIns="0">
            <a:spAutoFit/>
          </a:bodyPr>
          <a:lstStyle/>
          <a:p>
            <a:pPr algn="ctr">
              <a:lnSpc>
                <a:spcPts val="3759"/>
              </a:lnSpc>
            </a:pPr>
            <a:r>
              <a:rPr lang="en-US" sz="2685">
                <a:solidFill>
                  <a:srgbClr val="145DA0"/>
                </a:solidFill>
                <a:latin typeface="Poppins"/>
                <a:ea typeface="Poppins"/>
                <a:cs typeface="Poppins"/>
                <a:sym typeface="Poppins"/>
              </a:rPr>
              <a:t>03 Business alignment</a:t>
            </a:r>
          </a:p>
          <a:p>
            <a:pPr algn="ctr">
              <a:lnSpc>
                <a:spcPts val="3759"/>
              </a:lnSpc>
            </a:pPr>
          </a:p>
          <a:p>
            <a:pPr algn="ctr">
              <a:lnSpc>
                <a:spcPts val="3759"/>
              </a:lnSpc>
              <a:spcBef>
                <a:spcPct val="0"/>
              </a:spcBef>
            </a:pPr>
          </a:p>
        </p:txBody>
      </p:sp>
      <p:sp>
        <p:nvSpPr>
          <p:cNvPr name="AutoShape 21" id="21"/>
          <p:cNvSpPr/>
          <p:nvPr/>
        </p:nvSpPr>
        <p:spPr>
          <a:xfrm>
            <a:off x="10706179" y="4181637"/>
            <a:ext cx="0" cy="4410340"/>
          </a:xfrm>
          <a:prstGeom prst="line">
            <a:avLst/>
          </a:prstGeom>
          <a:ln cap="flat" w="38100">
            <a:solidFill>
              <a:srgbClr val="145DA0"/>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17266" y="4943792"/>
            <a:ext cx="15253469" cy="34226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Poppins"/>
                <a:ea typeface="Poppins"/>
                <a:cs typeface="Poppins"/>
                <a:sym typeface="Poppins"/>
              </a:rPr>
              <a:t>"Not bad. </a:t>
            </a:r>
            <a:r>
              <a:rPr lang="en-US" sz="1899">
                <a:solidFill>
                  <a:srgbClr val="000000"/>
                </a:solidFill>
                <a:latin typeface="Poppins"/>
                <a:ea typeface="Poppins"/>
                <a:cs typeface="Poppins"/>
                <a:sym typeface="Poppins"/>
              </a:rPr>
              <a:t>You just might survive the Tesla internship. Unless you build a model that predicts Elon tweets — that's career suicide."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DAGlhnXAXI0</dc:identifier>
  <dcterms:modified xsi:type="dcterms:W3CDTF">2011-08-01T06:04:30Z</dcterms:modified>
  <cp:revision>1</cp:revision>
  <dc:title>White and Blue Professional Modern Technology Pitch Deck Presentation</dc:title>
</cp:coreProperties>
</file>